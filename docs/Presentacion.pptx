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59" r:id="rId1"/>
  </p:sldMasterIdLst>
  <p:notesMasterIdLst>
    <p:notesMasterId r:id="rId12"/>
  </p:notesMasterIdLst>
  <p:sldIdLst>
    <p:sldId id="256" r:id="rId2"/>
    <p:sldId id="257" r:id="rId3"/>
    <p:sldId id="258" r:id="rId4"/>
    <p:sldId id="259" r:id="rId5"/>
    <p:sldId id="262" r:id="rId6"/>
    <p:sldId id="263" r:id="rId7"/>
    <p:sldId id="264" r:id="rId8"/>
    <p:sldId id="266" r:id="rId9"/>
    <p:sldId id="267" r:id="rId10"/>
    <p:sldId id="268" r:id="rId11"/>
  </p:sldIdLst>
  <p:sldSz cx="14630400" cy="8229600"/>
  <p:notesSz cx="8229600" cy="14630400"/>
  <p:embeddedFontLst>
    <p:embeddedFont>
      <p:font typeface="Barlow Bold" panose="020B0604020202020204" charset="0"/>
      <p:bold r:id="rId13"/>
    </p:embeddedFont>
    <p:embeddedFont>
      <p:font typeface="Century Schoolbook" panose="02040604050505020304" pitchFamily="18" charset="0"/>
      <p:regular r:id="rId14"/>
      <p:bold r:id="rId15"/>
      <p:italic r:id="rId16"/>
      <p:boldItalic r:id="rId17"/>
    </p:embeddedFont>
    <p:embeddedFont>
      <p:font typeface="Montserrat" panose="00000500000000000000" pitchFamily="2" charset="0"/>
      <p:regular r:id="rId18"/>
      <p:bold r:id="rId19"/>
    </p:embeddedFont>
    <p:embeddedFont>
      <p:font typeface="Wingdings 2" panose="05020102010507070707" pitchFamily="18" charset="2"/>
      <p:regular r:id="rId20"/>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8" d="100"/>
          <a:sy n="58" d="100"/>
        </p:scale>
        <p:origin x="75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45605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14246" y="910742"/>
            <a:ext cx="11301984" cy="4849978"/>
          </a:xfrm>
        </p:spPr>
        <p:txBody>
          <a:bodyPr anchor="b">
            <a:normAutofit/>
          </a:bodyPr>
          <a:lstStyle>
            <a:lvl1pPr algn="l">
              <a:lnSpc>
                <a:spcPct val="85000"/>
              </a:lnSpc>
              <a:defRPr sz="8640" baseline="0">
                <a:solidFill>
                  <a:schemeClr val="tx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14246" y="5760720"/>
            <a:ext cx="11301984" cy="2029968"/>
          </a:xfrm>
        </p:spPr>
        <p:txBody>
          <a:bodyPr>
            <a:normAutofit/>
          </a:bodyPr>
          <a:lstStyle>
            <a:lvl1pPr marL="0" indent="0" algn="l">
              <a:buNone/>
              <a:defRPr sz="2640" baseline="0">
                <a:solidFill>
                  <a:schemeClr val="tx1">
                    <a:lumMod val="75000"/>
                  </a:schemeClr>
                </a:solidFill>
              </a:defRPr>
            </a:lvl1pPr>
            <a:lvl2pPr marL="548640" indent="0" algn="ctr">
              <a:buNone/>
              <a:defRPr sz="2640"/>
            </a:lvl2pPr>
            <a:lvl3pPr marL="1097280" indent="0" algn="ctr">
              <a:buNone/>
              <a:defRPr sz="2640"/>
            </a:lvl3pPr>
            <a:lvl4pPr marL="1645920" indent="0" algn="ctr">
              <a:buNone/>
              <a:defRPr sz="2400"/>
            </a:lvl4pPr>
            <a:lvl5pPr marL="2194560" indent="0" algn="ctr">
              <a:buNone/>
              <a:defRPr sz="2400"/>
            </a:lvl5pPr>
            <a:lvl6pPr marL="2743200" indent="0" algn="ctr">
              <a:buNone/>
              <a:defRPr sz="2400"/>
            </a:lvl6pPr>
            <a:lvl7pPr marL="3291840" indent="0" algn="ctr">
              <a:buNone/>
              <a:defRPr sz="2400"/>
            </a:lvl7pPr>
            <a:lvl8pPr marL="3840480" indent="0" algn="ctr">
              <a:buNone/>
              <a:defRPr sz="2400"/>
            </a:lvl8pPr>
            <a:lvl9pPr marL="4389120" indent="0" algn="ctr">
              <a:buNone/>
              <a:defRPr sz="24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9E016143-E03C-4CFD-AFDC-14E5BDEA754C}" type="datetimeFigureOut">
              <a:rPr lang="en-US" dirty="0"/>
              <a:t>12/4/2025</a:t>
            </a:fld>
            <a:endParaRPr lang="en-US" dirty="0"/>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4FAB73BC-B049-4115-A692-8D63A059BFB8}" type="slidenum">
              <a:rPr lang="en-US" dirty="0"/>
              <a:pPr/>
              <a:t>‹Nº›</a:t>
            </a:fld>
            <a:endParaRPr lang="en-US" dirty="0"/>
          </a:p>
        </p:txBody>
      </p:sp>
      <p:sp>
        <p:nvSpPr>
          <p:cNvPr id="7" name="Rectangle 6"/>
          <p:cNvSpPr/>
          <p:nvPr/>
        </p:nvSpPr>
        <p:spPr>
          <a:xfrm>
            <a:off x="0" y="0"/>
            <a:ext cx="548640" cy="8229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118742393"/>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78C94063-DF36-4330-A365-08DA1FA5B7D6}" type="datetimeFigureOut">
              <a:rPr lang="en-US" dirty="0"/>
              <a:t>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‹Nº›</a:t>
            </a:fld>
            <a:endParaRPr lang="en-US" dirty="0"/>
          </a:p>
        </p:txBody>
      </p:sp>
    </p:spTree>
    <p:extLst>
      <p:ext uri="{BB962C8B-B14F-4D97-AF65-F5344CB8AC3E}">
        <p14:creationId xmlns:p14="http://schemas.microsoft.com/office/powerpoint/2010/main" val="253704028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514246" y="910742"/>
            <a:ext cx="11301984" cy="4849978"/>
          </a:xfrm>
        </p:spPr>
        <p:txBody>
          <a:bodyPr anchor="b">
            <a:normAutofit/>
          </a:bodyPr>
          <a:lstStyle>
            <a:lvl1pPr>
              <a:lnSpc>
                <a:spcPct val="85000"/>
              </a:lnSpc>
              <a:defRPr sz="8640" b="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514246" y="5760720"/>
            <a:ext cx="11301984" cy="2029968"/>
          </a:xfrm>
        </p:spPr>
        <p:txBody>
          <a:bodyPr anchor="t">
            <a:normAutofit/>
          </a:bodyPr>
          <a:lstStyle>
            <a:lvl1pPr marL="0" indent="0">
              <a:buNone/>
              <a:defRPr sz="2640">
                <a:solidFill>
                  <a:schemeClr val="tx1">
                    <a:lumMod val="65000"/>
                    <a:lumOff val="35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908A7C6C-0F39-4D70-8E8D-FE5B9C95FA73}" type="datetimeFigureOut">
              <a:rPr lang="en-US" dirty="0"/>
              <a:t>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‹Nº›</a:t>
            </a:fld>
            <a:endParaRPr lang="en-US" dirty="0"/>
          </a:p>
        </p:txBody>
      </p:sp>
      <p:sp>
        <p:nvSpPr>
          <p:cNvPr id="7" name="Rectangle 6"/>
          <p:cNvSpPr/>
          <p:nvPr/>
        </p:nvSpPr>
        <p:spPr>
          <a:xfrm>
            <a:off x="0" y="0"/>
            <a:ext cx="548640" cy="8229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817494748"/>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514246" y="2194561"/>
            <a:ext cx="5376672" cy="5221604"/>
          </a:xfrm>
        </p:spPr>
        <p:txBody>
          <a:bodyPr/>
          <a:lstStyle>
            <a:lvl1pPr>
              <a:defRPr sz="2160"/>
            </a:lvl1pPr>
            <a:lvl2pPr>
              <a:defRPr sz="1920"/>
            </a:lvl2pPr>
            <a:lvl3pPr>
              <a:defRPr sz="1680"/>
            </a:lvl3pPr>
            <a:lvl4pPr>
              <a:defRPr sz="1680"/>
            </a:lvl4pPr>
            <a:lvl5pPr>
              <a:defRPr sz="1680"/>
            </a:lvl5pPr>
            <a:lvl6pPr>
              <a:defRPr sz="1680"/>
            </a:lvl6pPr>
            <a:lvl7pPr>
              <a:defRPr sz="1680"/>
            </a:lvl7pPr>
            <a:lvl8pPr>
              <a:defRPr sz="1680"/>
            </a:lvl8pPr>
            <a:lvl9pPr>
              <a:defRPr sz="168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7351776" y="2194561"/>
            <a:ext cx="5376672" cy="5221604"/>
          </a:xfrm>
        </p:spPr>
        <p:txBody>
          <a:bodyPr/>
          <a:lstStyle>
            <a:lvl1pPr>
              <a:defRPr sz="2160"/>
            </a:lvl1pPr>
            <a:lvl2pPr>
              <a:defRPr sz="1920"/>
            </a:lvl2pPr>
            <a:lvl3pPr>
              <a:defRPr sz="1680"/>
            </a:lvl3pPr>
            <a:lvl4pPr>
              <a:defRPr sz="1680"/>
            </a:lvl4pPr>
            <a:lvl5pPr>
              <a:defRPr sz="1680"/>
            </a:lvl5pPr>
            <a:lvl6pPr>
              <a:defRPr sz="1680"/>
            </a:lvl6pPr>
            <a:lvl7pPr>
              <a:defRPr sz="1680"/>
            </a:lvl7pPr>
            <a:lvl8pPr>
              <a:defRPr sz="1680"/>
            </a:lvl8pPr>
            <a:lvl9pPr>
              <a:defRPr sz="168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DFCFA4AC-08CC-42CE-BD01-C191750A04EC}" type="datetimeFigureOut">
              <a:rPr lang="en-US" dirty="0"/>
              <a:t>12/4/2025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‹Nº›</a:t>
            </a:fld>
            <a:endParaRPr lang="en-US" dirty="0"/>
          </a:p>
        </p:txBody>
      </p:sp>
    </p:spTree>
    <p:extLst>
      <p:ext uri="{BB962C8B-B14F-4D97-AF65-F5344CB8AC3E}">
        <p14:creationId xmlns:p14="http://schemas.microsoft.com/office/powerpoint/2010/main" val="1132613841"/>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514246" y="2056386"/>
            <a:ext cx="5376672" cy="877824"/>
          </a:xfrm>
        </p:spPr>
        <p:txBody>
          <a:bodyPr anchor="b">
            <a:normAutofit/>
          </a:bodyPr>
          <a:lstStyle>
            <a:lvl1pPr marL="0" indent="0">
              <a:spcBef>
                <a:spcPts val="0"/>
              </a:spcBef>
              <a:buNone/>
              <a:defRPr sz="2400" b="0">
                <a:solidFill>
                  <a:schemeClr val="tx2"/>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s-ES"/>
              <a:t>Haga clic para modificar los estilos de texto del patrón</a:t>
            </a:r>
          </a:p>
        </p:txBody>
      </p:sp>
      <p:sp>
        <p:nvSpPr>
          <p:cNvPr id="4" name="Content Placeholder 3"/>
          <p:cNvSpPr>
            <a:spLocks noGrp="1"/>
          </p:cNvSpPr>
          <p:nvPr>
            <p:ph sz="half" idx="2"/>
          </p:nvPr>
        </p:nvSpPr>
        <p:spPr>
          <a:xfrm>
            <a:off x="1514246" y="3009060"/>
            <a:ext cx="5376672" cy="4397580"/>
          </a:xfrm>
        </p:spPr>
        <p:txBody>
          <a:bodyPr/>
          <a:lstStyle>
            <a:lvl1pPr>
              <a:defRPr sz="2160"/>
            </a:lvl1pPr>
            <a:lvl2pPr>
              <a:defRPr sz="1920"/>
            </a:lvl2pPr>
            <a:lvl3pPr>
              <a:defRPr sz="1680"/>
            </a:lvl3pPr>
            <a:lvl4pPr>
              <a:defRPr sz="1680"/>
            </a:lvl4pPr>
            <a:lvl5pPr>
              <a:defRPr sz="1680"/>
            </a:lvl5pPr>
            <a:lvl6pPr>
              <a:defRPr sz="1680"/>
            </a:lvl6pPr>
            <a:lvl7pPr>
              <a:defRPr sz="1680"/>
            </a:lvl7pPr>
            <a:lvl8pPr>
              <a:defRPr sz="1680"/>
            </a:lvl8pPr>
            <a:lvl9pPr>
              <a:defRPr sz="168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7351776" y="2056386"/>
            <a:ext cx="5376672" cy="877824"/>
          </a:xfrm>
        </p:spPr>
        <p:txBody>
          <a:bodyPr anchor="b">
            <a:normAutofit/>
          </a:bodyPr>
          <a:lstStyle>
            <a:lvl1pPr marL="0" indent="0">
              <a:lnSpc>
                <a:spcPct val="95000"/>
              </a:lnSpc>
              <a:spcBef>
                <a:spcPts val="0"/>
              </a:spcBef>
              <a:buNone/>
              <a:defRPr lang="en-US" sz="2400" b="0" kern="1200" dirty="0">
                <a:solidFill>
                  <a:schemeClr val="tx2"/>
                </a:solidFill>
                <a:latin typeface="+mn-lt"/>
                <a:ea typeface="+mn-ea"/>
                <a:cs typeface="+mn-cs"/>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marL="0" lvl="0" indent="0" algn="l" defTabSz="1097280" rtl="0" eaLnBrk="1" latinLnBrk="0" hangingPunct="1">
              <a:lnSpc>
                <a:spcPct val="90000"/>
              </a:lnSpc>
              <a:spcBef>
                <a:spcPts val="2400"/>
              </a:spcBef>
              <a:buFontTx/>
              <a:buNone/>
            </a:pPr>
            <a:r>
              <a:rPr lang="es-ES"/>
              <a:t>Haga clic para modificar los estilos de texto del patrón</a:t>
            </a:r>
          </a:p>
        </p:txBody>
      </p:sp>
      <p:sp>
        <p:nvSpPr>
          <p:cNvPr id="6" name="Content Placeholder 5"/>
          <p:cNvSpPr>
            <a:spLocks noGrp="1"/>
          </p:cNvSpPr>
          <p:nvPr>
            <p:ph sz="quarter" idx="4"/>
          </p:nvPr>
        </p:nvSpPr>
        <p:spPr>
          <a:xfrm>
            <a:off x="7351776" y="3009060"/>
            <a:ext cx="5376672" cy="4397580"/>
          </a:xfrm>
        </p:spPr>
        <p:txBody>
          <a:bodyPr/>
          <a:lstStyle>
            <a:lvl1pPr>
              <a:defRPr sz="2160"/>
            </a:lvl1pPr>
            <a:lvl2pPr>
              <a:defRPr sz="1920"/>
            </a:lvl2pPr>
            <a:lvl3pPr>
              <a:defRPr sz="1680"/>
            </a:lvl3pPr>
            <a:lvl4pPr>
              <a:defRPr sz="1680"/>
            </a:lvl4pPr>
            <a:lvl5pPr>
              <a:defRPr sz="1680"/>
            </a:lvl5pPr>
            <a:lvl6pPr>
              <a:defRPr sz="1680"/>
            </a:lvl6pPr>
            <a:lvl7pPr>
              <a:defRPr sz="1680"/>
            </a:lvl7pPr>
            <a:lvl8pPr>
              <a:defRPr sz="1680"/>
            </a:lvl8pPr>
            <a:lvl9pPr>
              <a:defRPr sz="168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1BA7A723-92A7-435B-B681-F25B092FEFEB}" type="datetimeFigureOut">
              <a:rPr lang="en-US" dirty="0"/>
              <a:t>12/4/2025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‹Nº›</a:t>
            </a:fld>
            <a:endParaRPr lang="en-US" dirty="0"/>
          </a:p>
        </p:txBody>
      </p:sp>
    </p:spTree>
    <p:extLst>
      <p:ext uri="{BB962C8B-B14F-4D97-AF65-F5344CB8AC3E}">
        <p14:creationId xmlns:p14="http://schemas.microsoft.com/office/powerpoint/2010/main" val="1092132551"/>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4F170639-886C-4FCF-9EAB-ABB5DA3F3F4A}" type="datetimeFigureOut">
              <a:rPr lang="en-US" dirty="0"/>
              <a:t>12/4/2025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‹Nº›</a:t>
            </a:fld>
            <a:endParaRPr lang="en-US" dirty="0"/>
          </a:p>
        </p:txBody>
      </p:sp>
    </p:spTree>
    <p:extLst>
      <p:ext uri="{BB962C8B-B14F-4D97-AF65-F5344CB8AC3E}">
        <p14:creationId xmlns:p14="http://schemas.microsoft.com/office/powerpoint/2010/main" val="209692145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230651-31F4-45D2-98AE-A2108F41BC07}" type="datetimeFigureOut">
              <a:rPr lang="en-US" dirty="0"/>
              <a:t>12/4/2025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‹Nº›</a:t>
            </a:fld>
            <a:endParaRPr lang="en-US" dirty="0"/>
          </a:p>
        </p:txBody>
      </p:sp>
    </p:spTree>
    <p:extLst>
      <p:ext uri="{BB962C8B-B14F-4D97-AF65-F5344CB8AC3E}">
        <p14:creationId xmlns:p14="http://schemas.microsoft.com/office/powerpoint/2010/main" val="92686849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009498" y="548641"/>
            <a:ext cx="3840480" cy="1920236"/>
          </a:xfrm>
        </p:spPr>
        <p:txBody>
          <a:bodyPr anchor="b">
            <a:normAutofit/>
          </a:bodyPr>
          <a:lstStyle>
            <a:lvl1pPr>
              <a:defRPr sz="3840" b="0" baseline="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405121" y="822960"/>
            <a:ext cx="7294879" cy="6583680"/>
          </a:xfrm>
        </p:spPr>
        <p:txBody>
          <a:bodyPr/>
          <a:lstStyle>
            <a:lvl1pPr>
              <a:defRPr sz="2400"/>
            </a:lvl1pPr>
            <a:lvl2pPr>
              <a:defRPr sz="2160"/>
            </a:lvl2pPr>
            <a:lvl3pPr>
              <a:defRPr sz="1920"/>
            </a:lvl3pPr>
            <a:lvl4pPr>
              <a:defRPr sz="1680"/>
            </a:lvl4pPr>
            <a:lvl5pPr>
              <a:defRPr sz="1680"/>
            </a:lvl5pPr>
            <a:lvl6pPr>
              <a:defRPr sz="1680"/>
            </a:lvl6pPr>
            <a:lvl7pPr>
              <a:defRPr sz="1680"/>
            </a:lvl7pPr>
            <a:lvl8pPr>
              <a:defRPr sz="1680"/>
            </a:lvl8pPr>
            <a:lvl9pPr>
              <a:defRPr sz="168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009498" y="2519682"/>
            <a:ext cx="3840480" cy="4572001"/>
          </a:xfrm>
        </p:spPr>
        <p:txBody>
          <a:bodyPr>
            <a:normAutofit/>
          </a:bodyPr>
          <a:lstStyle>
            <a:lvl1pPr marL="0" indent="0">
              <a:lnSpc>
                <a:spcPct val="114000"/>
              </a:lnSpc>
              <a:spcBef>
                <a:spcPts val="960"/>
              </a:spcBef>
              <a:buNone/>
              <a:defRPr sz="156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6F53789A-C914-4DB1-8815-80B5EC7335C5}" type="datetimeFigureOut">
              <a:rPr lang="en-US" dirty="0"/>
              <a:t>12/4/2025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‹Nº›</a:t>
            </a:fld>
            <a:endParaRPr lang="en-US" dirty="0"/>
          </a:p>
        </p:txBody>
      </p:sp>
    </p:spTree>
    <p:extLst>
      <p:ext uri="{BB962C8B-B14F-4D97-AF65-F5344CB8AC3E}">
        <p14:creationId xmlns:p14="http://schemas.microsoft.com/office/powerpoint/2010/main" val="168830059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8" name="Rectangle 7"/>
          <p:cNvSpPr/>
          <p:nvPr/>
        </p:nvSpPr>
        <p:spPr>
          <a:xfrm>
            <a:off x="0" y="6126480"/>
            <a:ext cx="13551408" cy="210312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6309360"/>
            <a:ext cx="11978640" cy="1097280"/>
          </a:xfrm>
        </p:spPr>
        <p:txBody>
          <a:bodyPr anchor="b">
            <a:normAutofit/>
          </a:bodyPr>
          <a:lstStyle>
            <a:lvl1pPr>
              <a:defRPr sz="3360" b="0">
                <a:solidFill>
                  <a:schemeClr val="bg1"/>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0" y="0"/>
            <a:ext cx="13551408" cy="6154708"/>
          </a:xfrm>
          <a:solidFill>
            <a:schemeClr val="accent1"/>
          </a:solidFill>
        </p:spPr>
        <p:txBody>
          <a:bodyPr anchor="t"/>
          <a:lstStyle>
            <a:lvl1pPr marL="0" indent="0">
              <a:buNone/>
              <a:defRPr sz="3840">
                <a:solidFill>
                  <a:schemeClr val="bg1"/>
                </a:solidFill>
              </a:defRPr>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097280" y="7330308"/>
            <a:ext cx="11978640" cy="716413"/>
          </a:xfrm>
        </p:spPr>
        <p:txBody>
          <a:bodyPr>
            <a:normAutofit/>
          </a:bodyPr>
          <a:lstStyle>
            <a:lvl1pPr marL="0" indent="0">
              <a:lnSpc>
                <a:spcPct val="100000"/>
              </a:lnSpc>
              <a:spcBef>
                <a:spcPts val="960"/>
              </a:spcBef>
              <a:buNone/>
              <a:defRPr sz="1560">
                <a:solidFill>
                  <a:schemeClr val="bg1">
                    <a:lumMod val="85000"/>
                  </a:schemeClr>
                </a:solidFill>
              </a:defRPr>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E6440AA-91A0-436F-8FDB-C0F939DCAE21}" type="datetimeFigureOut">
              <a:rPr lang="en-US" dirty="0"/>
              <a:t>12/4/2025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‹Nº›</a:t>
            </a:fld>
            <a:endParaRPr lang="en-US" dirty="0"/>
          </a:p>
        </p:txBody>
      </p:sp>
    </p:spTree>
    <p:extLst>
      <p:ext uri="{BB962C8B-B14F-4D97-AF65-F5344CB8AC3E}">
        <p14:creationId xmlns:p14="http://schemas.microsoft.com/office/powerpoint/2010/main" val="71164491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033E54A-A8CA-48C1-9504-691B58049D29}" type="datetimeFigureOut">
              <a:rPr lang="en-US" dirty="0"/>
              <a:t>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‹Nº›</a:t>
            </a:fld>
            <a:endParaRPr lang="en-US" dirty="0"/>
          </a:p>
        </p:txBody>
      </p:sp>
    </p:spTree>
    <p:extLst>
      <p:ext uri="{BB962C8B-B14F-4D97-AF65-F5344CB8AC3E}">
        <p14:creationId xmlns:p14="http://schemas.microsoft.com/office/powerpoint/2010/main" val="271991593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378440" y="457200"/>
            <a:ext cx="2971800" cy="7077074"/>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914400" y="457200"/>
            <a:ext cx="9281160" cy="7077074"/>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5F6C806-BBF7-471C-9527-881CE2266695}" type="datetimeFigureOut">
              <a:rPr lang="en-US" dirty="0"/>
              <a:t>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‹Nº›</a:t>
            </a:fld>
            <a:endParaRPr lang="en-US" dirty="0"/>
          </a:p>
        </p:txBody>
      </p:sp>
    </p:spTree>
    <p:extLst>
      <p:ext uri="{BB962C8B-B14F-4D97-AF65-F5344CB8AC3E}">
        <p14:creationId xmlns:p14="http://schemas.microsoft.com/office/powerpoint/2010/main" val="88130266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64281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71128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66706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68841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81673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28198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55366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3551408" y="0"/>
            <a:ext cx="1097280" cy="82296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514246" y="438912"/>
            <a:ext cx="11631168" cy="1590674"/>
          </a:xfrm>
          <a:prstGeom prst="rect">
            <a:avLst/>
          </a:prstGeom>
        </p:spPr>
        <p:txBody>
          <a:bodyPr vert="horz" lIns="91440" tIns="45720" rIns="91440" bIns="45720" rtlCol="0" anchor="b">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514246" y="2194561"/>
            <a:ext cx="10314432" cy="5221604"/>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rot="16200000">
            <a:off x="12957051" y="1198245"/>
            <a:ext cx="2285999" cy="438150"/>
          </a:xfrm>
          <a:prstGeom prst="rect">
            <a:avLst/>
          </a:prstGeom>
        </p:spPr>
        <p:txBody>
          <a:bodyPr vert="horz" lIns="91440" tIns="45720" rIns="91440" bIns="45720" rtlCol="0" anchor="ctr"/>
          <a:lstStyle>
            <a:lvl1pPr algn="r">
              <a:defRPr sz="1260" b="0">
                <a:solidFill>
                  <a:schemeClr val="tx2">
                    <a:lumMod val="20000"/>
                    <a:lumOff val="80000"/>
                  </a:schemeClr>
                </a:solidFill>
              </a:defRPr>
            </a:lvl1pPr>
          </a:lstStyle>
          <a:p>
            <a:fld id="{0E59FD0C-5451-4CA0-86AF-E70AE3279989}" type="datetimeFigureOut">
              <a:rPr lang="en-US" dirty="0"/>
              <a:t>12/4/2025</a:t>
            </a:fld>
            <a:endParaRPr lang="en-US" dirty="0"/>
          </a:p>
        </p:txBody>
      </p:sp>
      <p:sp>
        <p:nvSpPr>
          <p:cNvPr id="5" name="Footer Placeholder 4"/>
          <p:cNvSpPr>
            <a:spLocks noGrp="1"/>
          </p:cNvSpPr>
          <p:nvPr>
            <p:ph type="ftr" sz="quarter" idx="3"/>
          </p:nvPr>
        </p:nvSpPr>
        <p:spPr>
          <a:xfrm rot="16200000">
            <a:off x="11951209" y="4855845"/>
            <a:ext cx="4297680" cy="438150"/>
          </a:xfrm>
          <a:prstGeom prst="rect">
            <a:avLst/>
          </a:prstGeom>
        </p:spPr>
        <p:txBody>
          <a:bodyPr vert="horz" lIns="91440" tIns="45720" rIns="91440" bIns="45720" rtlCol="0" anchor="ctr"/>
          <a:lstStyle>
            <a:lvl1pPr algn="l">
              <a:defRPr sz="1260">
                <a:solidFill>
                  <a:schemeClr val="tx2">
                    <a:lumMod val="20000"/>
                    <a:lumOff val="80000"/>
                  </a:schemeClr>
                </a:solidFill>
              </a:defRPr>
            </a:lvl1pPr>
          </a:lstStyle>
          <a:p>
            <a:endParaRPr lang="en-US" dirty="0"/>
          </a:p>
        </p:txBody>
      </p:sp>
      <p:sp>
        <p:nvSpPr>
          <p:cNvPr id="6" name="Slide Number Placeholder 5"/>
          <p:cNvSpPr>
            <a:spLocks noGrp="1"/>
          </p:cNvSpPr>
          <p:nvPr>
            <p:ph type="sldNum" sz="quarter" idx="4"/>
          </p:nvPr>
        </p:nvSpPr>
        <p:spPr>
          <a:xfrm>
            <a:off x="13551408" y="7406641"/>
            <a:ext cx="1097280" cy="712470"/>
          </a:xfrm>
          <a:prstGeom prst="rect">
            <a:avLst/>
          </a:prstGeom>
        </p:spPr>
        <p:txBody>
          <a:bodyPr vert="horz" lIns="45720" tIns="45720" rIns="45720" bIns="45720" rtlCol="0" anchor="ctr">
            <a:normAutofit/>
          </a:bodyPr>
          <a:lstStyle>
            <a:lvl1pPr algn="ctr">
              <a:defRPr sz="4320">
                <a:solidFill>
                  <a:schemeClr val="tx2">
                    <a:lumMod val="60000"/>
                    <a:lumOff val="40000"/>
                  </a:schemeClr>
                </a:solidFill>
              </a:defRPr>
            </a:lvl1pPr>
          </a:lstStyle>
          <a:p>
            <a:fld id="{4FAB73BC-B049-4115-A692-8D63A059BFB8}" type="slidenum">
              <a:rPr lang="en-US" dirty="0"/>
              <a:pPr/>
              <a:t>‹Nº›</a:t>
            </a:fld>
            <a:endParaRPr lang="en-US" dirty="0"/>
          </a:p>
        </p:txBody>
      </p:sp>
    </p:spTree>
    <p:extLst>
      <p:ext uri="{BB962C8B-B14F-4D97-AF65-F5344CB8AC3E}">
        <p14:creationId xmlns:p14="http://schemas.microsoft.com/office/powerpoint/2010/main" val="1496065559"/>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7" r:id="rId16"/>
    <p:sldLayoutId id="2147483678" r:id="rId17"/>
    <p:sldLayoutId id="2147483679" r:id="rId18"/>
  </p:sldLayoutIdLst>
  <p:hf sldNum="0" hdr="0" ftr="0" dt="0"/>
  <p:txStyles>
    <p:titleStyle>
      <a:lvl1pPr algn="l" defTabSz="1097280" rtl="0" eaLnBrk="1" latinLnBrk="0" hangingPunct="1">
        <a:lnSpc>
          <a:spcPct val="90000"/>
        </a:lnSpc>
        <a:spcBef>
          <a:spcPct val="0"/>
        </a:spcBef>
        <a:buNone/>
        <a:defRPr sz="5280" kern="1200" spc="-60" baseline="0">
          <a:solidFill>
            <a:schemeClr val="tx1"/>
          </a:solidFill>
          <a:latin typeface="+mj-lt"/>
          <a:ea typeface="+mj-ea"/>
          <a:cs typeface="+mj-cs"/>
        </a:defRPr>
      </a:lvl1pPr>
    </p:titleStyle>
    <p:bodyStyle>
      <a:lvl1pPr marL="219456" indent="-219456" algn="l" defTabSz="1097280" rtl="0" eaLnBrk="1" latinLnBrk="0" hangingPunct="1">
        <a:lnSpc>
          <a:spcPct val="95000"/>
        </a:lnSpc>
        <a:spcBef>
          <a:spcPts val="1680"/>
        </a:spcBef>
        <a:spcAft>
          <a:spcPts val="240"/>
        </a:spcAft>
        <a:buClr>
          <a:schemeClr val="accent1"/>
        </a:buClr>
        <a:buSzPct val="80000"/>
        <a:buFont typeface="Arial" pitchFamily="34" charset="0"/>
        <a:buChar char="•"/>
        <a:defRPr sz="2160" kern="1200" spc="12" baseline="0">
          <a:solidFill>
            <a:schemeClr val="tx1"/>
          </a:solidFill>
          <a:latin typeface="+mn-lt"/>
          <a:ea typeface="+mn-ea"/>
          <a:cs typeface="+mn-cs"/>
        </a:defRPr>
      </a:lvl1pPr>
      <a:lvl2pPr marL="548640" indent="-219456" algn="l" defTabSz="1097280" rtl="0" eaLnBrk="1" latinLnBrk="0" hangingPunct="1">
        <a:lnSpc>
          <a:spcPct val="90000"/>
        </a:lnSpc>
        <a:spcBef>
          <a:spcPts val="360"/>
        </a:spcBef>
        <a:spcAft>
          <a:spcPts val="360"/>
        </a:spcAft>
        <a:buClr>
          <a:schemeClr val="accent1"/>
        </a:buClr>
        <a:buFont typeface="Wingdings 2" pitchFamily="18" charset="2"/>
        <a:buChar char=""/>
        <a:defRPr sz="1920" kern="1200">
          <a:solidFill>
            <a:schemeClr val="tx1">
              <a:lumMod val="85000"/>
              <a:lumOff val="15000"/>
            </a:schemeClr>
          </a:solidFill>
          <a:latin typeface="+mn-lt"/>
          <a:ea typeface="+mn-ea"/>
          <a:cs typeface="+mn-cs"/>
        </a:defRPr>
      </a:lvl2pPr>
      <a:lvl3pPr marL="877824" indent="-219456" algn="l" defTabSz="1097280" rtl="0" eaLnBrk="1" latinLnBrk="0" hangingPunct="1">
        <a:lnSpc>
          <a:spcPct val="90000"/>
        </a:lnSpc>
        <a:spcBef>
          <a:spcPts val="360"/>
        </a:spcBef>
        <a:spcAft>
          <a:spcPts val="360"/>
        </a:spcAft>
        <a:buClr>
          <a:schemeClr val="accent1"/>
        </a:buClr>
        <a:buFont typeface="Wingdings 2" pitchFamily="18" charset="2"/>
        <a:buChar char=""/>
        <a:defRPr sz="1680" kern="1200">
          <a:solidFill>
            <a:schemeClr val="tx1">
              <a:lumMod val="85000"/>
              <a:lumOff val="15000"/>
            </a:schemeClr>
          </a:solidFill>
          <a:latin typeface="+mn-lt"/>
          <a:ea typeface="+mn-ea"/>
          <a:cs typeface="+mn-cs"/>
        </a:defRPr>
      </a:lvl3pPr>
      <a:lvl4pPr marL="1207008" indent="-219456" algn="l" defTabSz="1097280" rtl="0" eaLnBrk="1" latinLnBrk="0" hangingPunct="1">
        <a:lnSpc>
          <a:spcPct val="90000"/>
        </a:lnSpc>
        <a:spcBef>
          <a:spcPts val="360"/>
        </a:spcBef>
        <a:spcAft>
          <a:spcPts val="360"/>
        </a:spcAft>
        <a:buClr>
          <a:schemeClr val="accent1"/>
        </a:buClr>
        <a:buFont typeface="Wingdings 2" pitchFamily="18" charset="2"/>
        <a:buChar char=""/>
        <a:defRPr sz="1680" kern="1200">
          <a:solidFill>
            <a:schemeClr val="tx1">
              <a:lumMod val="85000"/>
              <a:lumOff val="15000"/>
            </a:schemeClr>
          </a:solidFill>
          <a:latin typeface="+mn-lt"/>
          <a:ea typeface="+mn-ea"/>
          <a:cs typeface="+mn-cs"/>
        </a:defRPr>
      </a:lvl4pPr>
      <a:lvl5pPr marL="1536192" indent="-219456" algn="l" defTabSz="1097280" rtl="0" eaLnBrk="1" latinLnBrk="0" hangingPunct="1">
        <a:lnSpc>
          <a:spcPct val="90000"/>
        </a:lnSpc>
        <a:spcBef>
          <a:spcPts val="360"/>
        </a:spcBef>
        <a:spcAft>
          <a:spcPts val="360"/>
        </a:spcAft>
        <a:buClr>
          <a:schemeClr val="accent1"/>
        </a:buClr>
        <a:buFont typeface="Wingdings 2" pitchFamily="18" charset="2"/>
        <a:buChar char=""/>
        <a:defRPr sz="1680" kern="1200">
          <a:solidFill>
            <a:schemeClr val="tx1">
              <a:lumMod val="85000"/>
              <a:lumOff val="15000"/>
            </a:schemeClr>
          </a:solidFill>
          <a:latin typeface="+mn-lt"/>
          <a:ea typeface="+mn-ea"/>
          <a:cs typeface="+mn-cs"/>
        </a:defRPr>
      </a:lvl5pPr>
      <a:lvl6pPr marL="1920000" indent="-274320" algn="l" defTabSz="1097280" rtl="0" eaLnBrk="1" latinLnBrk="0" hangingPunct="1">
        <a:lnSpc>
          <a:spcPct val="90000"/>
        </a:lnSpc>
        <a:spcBef>
          <a:spcPts val="360"/>
        </a:spcBef>
        <a:spcAft>
          <a:spcPts val="360"/>
        </a:spcAft>
        <a:buClr>
          <a:schemeClr val="accent1"/>
        </a:buClr>
        <a:buFont typeface="Wingdings 2" pitchFamily="18" charset="2"/>
        <a:buChar char=""/>
        <a:defRPr sz="1680" kern="1200">
          <a:solidFill>
            <a:schemeClr val="tx1">
              <a:lumMod val="85000"/>
              <a:lumOff val="15000"/>
            </a:schemeClr>
          </a:solidFill>
          <a:latin typeface="+mn-lt"/>
          <a:ea typeface="+mn-ea"/>
          <a:cs typeface="+mn-cs"/>
        </a:defRPr>
      </a:lvl6pPr>
      <a:lvl7pPr marL="2280000" indent="-274320" algn="l" defTabSz="1097280" rtl="0" eaLnBrk="1" latinLnBrk="0" hangingPunct="1">
        <a:lnSpc>
          <a:spcPct val="90000"/>
        </a:lnSpc>
        <a:spcBef>
          <a:spcPts val="360"/>
        </a:spcBef>
        <a:spcAft>
          <a:spcPts val="360"/>
        </a:spcAft>
        <a:buClr>
          <a:schemeClr val="accent1"/>
        </a:buClr>
        <a:buFont typeface="Wingdings 2" pitchFamily="18" charset="2"/>
        <a:buChar char=""/>
        <a:defRPr sz="1680" kern="1200">
          <a:solidFill>
            <a:schemeClr val="tx1">
              <a:lumMod val="85000"/>
              <a:lumOff val="15000"/>
            </a:schemeClr>
          </a:solidFill>
          <a:latin typeface="+mn-lt"/>
          <a:ea typeface="+mn-ea"/>
          <a:cs typeface="+mn-cs"/>
        </a:defRPr>
      </a:lvl7pPr>
      <a:lvl8pPr marL="2640000" indent="-274320" algn="l" defTabSz="1097280" rtl="0" eaLnBrk="1" latinLnBrk="0" hangingPunct="1">
        <a:lnSpc>
          <a:spcPct val="90000"/>
        </a:lnSpc>
        <a:spcBef>
          <a:spcPts val="360"/>
        </a:spcBef>
        <a:spcAft>
          <a:spcPts val="360"/>
        </a:spcAft>
        <a:buClr>
          <a:schemeClr val="accent1"/>
        </a:buClr>
        <a:buFont typeface="Wingdings 2" pitchFamily="18" charset="2"/>
        <a:buChar char=""/>
        <a:defRPr sz="1680" kern="1200">
          <a:solidFill>
            <a:schemeClr val="tx1">
              <a:lumMod val="85000"/>
              <a:lumOff val="15000"/>
            </a:schemeClr>
          </a:solidFill>
          <a:latin typeface="+mn-lt"/>
          <a:ea typeface="+mn-ea"/>
          <a:cs typeface="+mn-cs"/>
        </a:defRPr>
      </a:lvl8pPr>
      <a:lvl9pPr marL="3000000" indent="-274320" algn="l" defTabSz="1097280" rtl="0" eaLnBrk="1" latinLnBrk="0" hangingPunct="1">
        <a:lnSpc>
          <a:spcPct val="90000"/>
        </a:lnSpc>
        <a:spcBef>
          <a:spcPts val="360"/>
        </a:spcBef>
        <a:spcAft>
          <a:spcPts val="360"/>
        </a:spcAft>
        <a:buClr>
          <a:schemeClr val="accent1"/>
        </a:buClr>
        <a:buFont typeface="Wingdings 2" pitchFamily="18" charset="2"/>
        <a:buChar char=""/>
        <a:defRPr sz="1680" kern="1200">
          <a:solidFill>
            <a:schemeClr val="tx1">
              <a:lumMod val="85000"/>
              <a:lumOff val="15000"/>
            </a:schemeClr>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6.xml"/><Relationship Id="rId4" Type="http://schemas.openxmlformats.org/officeDocument/2006/relationships/image" Target="../media/image6.jp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58309" y="1970365"/>
            <a:ext cx="4629388" cy="311706"/>
          </a:xfrm>
          <a:prstGeom prst="rect">
            <a:avLst/>
          </a:prstGeom>
          <a:noFill/>
          <a:ln/>
        </p:spPr>
        <p:txBody>
          <a:bodyPr wrap="none" lIns="0" tIns="0" rIns="0" bIns="0" rtlCol="0" anchor="t"/>
          <a:lstStyle/>
          <a:p>
            <a:pPr marL="0" indent="0" algn="l">
              <a:lnSpc>
                <a:spcPts val="2450"/>
              </a:lnSpc>
              <a:buNone/>
            </a:pPr>
            <a:r>
              <a:rPr lang="en-US" sz="1950" b="1" dirty="0">
                <a:solidFill>
                  <a:srgbClr val="2E3C4E"/>
                </a:solidFill>
                <a:latin typeface="Barlow Bold" pitchFamily="34" charset="0"/>
                <a:ea typeface="Barlow Bold" pitchFamily="34" charset="-122"/>
                <a:cs typeface="Barlow Bold" pitchFamily="34" charset="-120"/>
              </a:rPr>
              <a:t>REPÚBLICA BOLIVARIANA DE VENEZUELA</a:t>
            </a:r>
            <a:endParaRPr lang="en-US" sz="1950" dirty="0"/>
          </a:p>
        </p:txBody>
      </p:sp>
      <p:sp>
        <p:nvSpPr>
          <p:cNvPr id="3" name="Text 1"/>
          <p:cNvSpPr/>
          <p:nvPr/>
        </p:nvSpPr>
        <p:spPr>
          <a:xfrm>
            <a:off x="758309" y="2357795"/>
            <a:ext cx="7891105" cy="311706"/>
          </a:xfrm>
          <a:prstGeom prst="rect">
            <a:avLst/>
          </a:prstGeom>
          <a:noFill/>
          <a:ln/>
        </p:spPr>
        <p:txBody>
          <a:bodyPr wrap="none" lIns="0" tIns="0" rIns="0" bIns="0" rtlCol="0" anchor="t"/>
          <a:lstStyle/>
          <a:p>
            <a:pPr marL="0" indent="0" algn="l">
              <a:lnSpc>
                <a:spcPts val="2450"/>
              </a:lnSpc>
              <a:buNone/>
            </a:pPr>
            <a:r>
              <a:rPr lang="en-US" sz="1950" b="1" dirty="0">
                <a:solidFill>
                  <a:srgbClr val="2E3C4E"/>
                </a:solidFill>
                <a:latin typeface="Barlow Bold" pitchFamily="34" charset="0"/>
                <a:ea typeface="Barlow Bold" pitchFamily="34" charset="-122"/>
                <a:cs typeface="Barlow Bold" pitchFamily="34" charset="-120"/>
              </a:rPr>
              <a:t>MINISTERIO DEL PODER POPULAR PARA LA EDUCACIÓN UNIVERSITARIA</a:t>
            </a:r>
            <a:endParaRPr lang="en-US" sz="1950" dirty="0"/>
          </a:p>
        </p:txBody>
      </p:sp>
      <p:sp>
        <p:nvSpPr>
          <p:cNvPr id="4" name="Text 2"/>
          <p:cNvSpPr/>
          <p:nvPr/>
        </p:nvSpPr>
        <p:spPr>
          <a:xfrm>
            <a:off x="758309" y="2745224"/>
            <a:ext cx="8329970" cy="311706"/>
          </a:xfrm>
          <a:prstGeom prst="rect">
            <a:avLst/>
          </a:prstGeom>
          <a:noFill/>
          <a:ln/>
        </p:spPr>
        <p:txBody>
          <a:bodyPr wrap="none" lIns="0" tIns="0" rIns="0" bIns="0" rtlCol="0" anchor="t"/>
          <a:lstStyle/>
          <a:p>
            <a:pPr marL="0" indent="0" algn="l">
              <a:lnSpc>
                <a:spcPts val="2450"/>
              </a:lnSpc>
              <a:buNone/>
            </a:pPr>
            <a:r>
              <a:rPr lang="en-US" sz="1950" b="1" dirty="0">
                <a:solidFill>
                  <a:srgbClr val="2E3C4E"/>
                </a:solidFill>
                <a:latin typeface="Barlow Bold" pitchFamily="34" charset="0"/>
                <a:ea typeface="Barlow Bold" pitchFamily="34" charset="-122"/>
                <a:cs typeface="Barlow Bold" pitchFamily="34" charset="-120"/>
              </a:rPr>
              <a:t>UNIVERSIDAD POLITÉCNICA TERRITORIAL DE BARLOVENTO "ARGELIA LAYA"</a:t>
            </a:r>
            <a:endParaRPr lang="en-US" sz="1950" dirty="0"/>
          </a:p>
        </p:txBody>
      </p:sp>
      <p:sp>
        <p:nvSpPr>
          <p:cNvPr id="5" name="Text 3"/>
          <p:cNvSpPr/>
          <p:nvPr/>
        </p:nvSpPr>
        <p:spPr>
          <a:xfrm>
            <a:off x="758309" y="3132653"/>
            <a:ext cx="11507986" cy="623530"/>
          </a:xfrm>
          <a:prstGeom prst="rect">
            <a:avLst/>
          </a:prstGeom>
          <a:noFill/>
          <a:ln/>
        </p:spPr>
        <p:txBody>
          <a:bodyPr wrap="none" lIns="0" tIns="0" rIns="0" bIns="0" rtlCol="0" anchor="t"/>
          <a:lstStyle/>
          <a:p>
            <a:pPr marL="0" indent="0" algn="l">
              <a:lnSpc>
                <a:spcPts val="4900"/>
              </a:lnSpc>
              <a:buNone/>
            </a:pPr>
            <a:r>
              <a:rPr lang="en-US" sz="3900" b="1" dirty="0">
                <a:solidFill>
                  <a:srgbClr val="2E3C4E"/>
                </a:solidFill>
                <a:latin typeface="Barlow Bold" pitchFamily="34" charset="0"/>
                <a:ea typeface="Barlow Bold" pitchFamily="34" charset="-122"/>
                <a:cs typeface="Barlow Bold" pitchFamily="34" charset="-120"/>
              </a:rPr>
              <a:t>Sistema de Información Automatizado "AdminPyme"</a:t>
            </a:r>
            <a:endParaRPr lang="en-US" sz="3900" dirty="0"/>
          </a:p>
        </p:txBody>
      </p:sp>
      <p:sp>
        <p:nvSpPr>
          <p:cNvPr id="6" name="Text 4"/>
          <p:cNvSpPr/>
          <p:nvPr/>
        </p:nvSpPr>
        <p:spPr>
          <a:xfrm>
            <a:off x="758309" y="4040505"/>
            <a:ext cx="13113782" cy="303252"/>
          </a:xfrm>
          <a:prstGeom prst="rect">
            <a:avLst/>
          </a:prstGeom>
          <a:noFill/>
          <a:ln/>
        </p:spPr>
        <p:txBody>
          <a:bodyPr wrap="non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Para la Gestión de Ventas en la Tienda "La Frontera del Sabor C.G."</a:t>
            </a:r>
            <a:endParaRPr lang="en-US" sz="1450" dirty="0"/>
          </a:p>
        </p:txBody>
      </p:sp>
      <p:sp>
        <p:nvSpPr>
          <p:cNvPr id="7" name="Text 5"/>
          <p:cNvSpPr/>
          <p:nvPr/>
        </p:nvSpPr>
        <p:spPr>
          <a:xfrm>
            <a:off x="1042630" y="4770239"/>
            <a:ext cx="12829461" cy="303252"/>
          </a:xfrm>
          <a:prstGeom prst="rect">
            <a:avLst/>
          </a:prstGeom>
          <a:noFill/>
          <a:ln/>
        </p:spPr>
        <p:txBody>
          <a:bodyPr wrap="non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Tutor: Juan García</a:t>
            </a:r>
            <a:endParaRPr lang="en-US" sz="1450" dirty="0"/>
          </a:p>
        </p:txBody>
      </p:sp>
      <p:sp>
        <p:nvSpPr>
          <p:cNvPr id="8" name="Text 6"/>
          <p:cNvSpPr/>
          <p:nvPr/>
        </p:nvSpPr>
        <p:spPr>
          <a:xfrm>
            <a:off x="1042630" y="5286732"/>
            <a:ext cx="12829461" cy="303252"/>
          </a:xfrm>
          <a:prstGeom prst="rect">
            <a:avLst/>
          </a:prstGeom>
          <a:noFill/>
          <a:ln/>
        </p:spPr>
        <p:txBody>
          <a:bodyPr wrap="non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Participantes: Eddy Pacheco, Frankelbert Bolívar, Juan Ruiz</a:t>
            </a:r>
            <a:endParaRPr lang="en-US" sz="1450" dirty="0"/>
          </a:p>
        </p:txBody>
      </p:sp>
      <p:sp>
        <p:nvSpPr>
          <p:cNvPr id="9" name="Shape 7"/>
          <p:cNvSpPr/>
          <p:nvPr/>
        </p:nvSpPr>
        <p:spPr>
          <a:xfrm>
            <a:off x="758309" y="4556998"/>
            <a:ext cx="22860" cy="1246227"/>
          </a:xfrm>
          <a:prstGeom prst="rect">
            <a:avLst/>
          </a:prstGeom>
          <a:solidFill>
            <a:srgbClr val="75BAE6"/>
          </a:solidFill>
          <a:ln/>
        </p:spPr>
      </p:sp>
      <p:sp>
        <p:nvSpPr>
          <p:cNvPr id="10" name="Text 8"/>
          <p:cNvSpPr/>
          <p:nvPr/>
        </p:nvSpPr>
        <p:spPr>
          <a:xfrm>
            <a:off x="758309" y="6016466"/>
            <a:ext cx="13113782" cy="242649"/>
          </a:xfrm>
          <a:prstGeom prst="rect">
            <a:avLst/>
          </a:prstGeom>
          <a:noFill/>
          <a:ln/>
        </p:spPr>
        <p:txBody>
          <a:bodyPr wrap="none" lIns="0" tIns="0" rIns="0" bIns="0" rtlCol="0" anchor="t"/>
          <a:lstStyle/>
          <a:p>
            <a:pPr marL="0" indent="0" algn="l">
              <a:lnSpc>
                <a:spcPts val="1900"/>
              </a:lnSpc>
              <a:buNone/>
            </a:pPr>
            <a:r>
              <a:rPr lang="en-US" sz="1150" b="1" dirty="0">
                <a:solidFill>
                  <a:srgbClr val="384653"/>
                </a:solidFill>
                <a:latin typeface="Montserrat" pitchFamily="34" charset="0"/>
                <a:ea typeface="Montserrat" pitchFamily="34" charset="-122"/>
                <a:cs typeface="Montserrat" pitchFamily="34" charset="-120"/>
              </a:rPr>
              <a:t>PNF: Ingeniería en Informática | Trayecto III Sección U</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58309" y="1732836"/>
            <a:ext cx="3773686" cy="311706"/>
          </a:xfrm>
          <a:prstGeom prst="rect">
            <a:avLst/>
          </a:prstGeom>
          <a:noFill/>
          <a:ln/>
        </p:spPr>
        <p:txBody>
          <a:bodyPr wrap="none" lIns="0" tIns="0" rIns="0" bIns="0" rtlCol="0" anchor="t"/>
          <a:lstStyle/>
          <a:p>
            <a:pPr marL="0" indent="0" algn="l">
              <a:lnSpc>
                <a:spcPts val="2450"/>
              </a:lnSpc>
              <a:buNone/>
            </a:pPr>
            <a:r>
              <a:rPr lang="en-US" sz="1950" b="1" dirty="0">
                <a:solidFill>
                  <a:srgbClr val="2E3C4E"/>
                </a:solidFill>
                <a:latin typeface="Barlow Bold" pitchFamily="34" charset="0"/>
                <a:ea typeface="Barlow Bold" pitchFamily="34" charset="-122"/>
                <a:cs typeface="Barlow Bold" pitchFamily="34" charset="-120"/>
              </a:rPr>
              <a:t>Capítulo I: Diagnóstico Situacional</a:t>
            </a:r>
            <a:endParaRPr lang="en-US" sz="1950" dirty="0"/>
          </a:p>
        </p:txBody>
      </p:sp>
      <p:sp>
        <p:nvSpPr>
          <p:cNvPr id="3" name="Text 1"/>
          <p:cNvSpPr/>
          <p:nvPr/>
        </p:nvSpPr>
        <p:spPr>
          <a:xfrm>
            <a:off x="758309" y="2120265"/>
            <a:ext cx="10112216" cy="623530"/>
          </a:xfrm>
          <a:prstGeom prst="rect">
            <a:avLst/>
          </a:prstGeom>
          <a:noFill/>
          <a:ln/>
        </p:spPr>
        <p:txBody>
          <a:bodyPr wrap="none" lIns="0" tIns="0" rIns="0" bIns="0" rtlCol="0" anchor="t"/>
          <a:lstStyle/>
          <a:p>
            <a:pPr marL="0" indent="0" algn="l">
              <a:lnSpc>
                <a:spcPts val="4900"/>
              </a:lnSpc>
              <a:buNone/>
            </a:pPr>
            <a:r>
              <a:rPr lang="en-US" sz="3900" b="1" dirty="0">
                <a:solidFill>
                  <a:srgbClr val="2E3C4E"/>
                </a:solidFill>
                <a:latin typeface="Barlow Bold" pitchFamily="34" charset="0"/>
                <a:ea typeface="Barlow Bold" pitchFamily="34" charset="-122"/>
                <a:cs typeface="Barlow Bold" pitchFamily="34" charset="-120"/>
              </a:rPr>
              <a:t>La Frontera del Sabor C.G.: Reseña y Contexto</a:t>
            </a:r>
            <a:endParaRPr lang="en-US" sz="3900" dirty="0"/>
          </a:p>
        </p:txBody>
      </p:sp>
      <p:sp>
        <p:nvSpPr>
          <p:cNvPr id="4" name="Text 2"/>
          <p:cNvSpPr/>
          <p:nvPr/>
        </p:nvSpPr>
        <p:spPr>
          <a:xfrm>
            <a:off x="758309" y="3028117"/>
            <a:ext cx="12758186" cy="909757"/>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El negocio comenzó modestamente, ofreciendo caramelos y productos escolares a estudiantes del liceo U.E.E Argelia Laya. Sus fundadores, Alba González y Franklin Cartagena, decidieron expandir el negocio para incorporar más mercancía y servicios a la comunidad de Marizapa, dando origen a "Inversiones La Frontera del Sabor C.G."</a:t>
            </a:r>
            <a:endParaRPr lang="en-US" sz="1450" dirty="0"/>
          </a:p>
        </p:txBody>
      </p:sp>
      <p:sp>
        <p:nvSpPr>
          <p:cNvPr id="5" name="Text 3"/>
          <p:cNvSpPr/>
          <p:nvPr/>
        </p:nvSpPr>
        <p:spPr>
          <a:xfrm>
            <a:off x="758309" y="4151114"/>
            <a:ext cx="12758186" cy="909757"/>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El nombre surgió en el período 2021-2022, haciendo énfasis en la decisión de los fundadores de quedarse en el país en lugar de emigrar, en un momento en que muchos conocidos lo hacían. Actualmente, el local es una casa de dos pisos (10m x 20m) ubicada en la Calle 19 de Abril, Parroquia Marizapa, y está dividido en tres áreas clave:</a:t>
            </a:r>
            <a:endParaRPr lang="en-US" sz="1450" dirty="0"/>
          </a:p>
        </p:txBody>
      </p:sp>
      <p:sp>
        <p:nvSpPr>
          <p:cNvPr id="6" name="Shape 4"/>
          <p:cNvSpPr/>
          <p:nvPr/>
        </p:nvSpPr>
        <p:spPr>
          <a:xfrm>
            <a:off x="758309" y="5274112"/>
            <a:ext cx="4244816" cy="706041"/>
          </a:xfrm>
          <a:prstGeom prst="roundRect">
            <a:avLst>
              <a:gd name="adj" fmla="val 40277"/>
            </a:avLst>
          </a:prstGeom>
          <a:solidFill>
            <a:srgbClr val="D4E9F7"/>
          </a:solidFill>
          <a:ln w="7620">
            <a:solidFill>
              <a:srgbClr val="BACFDD"/>
            </a:solidFill>
            <a:prstDash val="solid"/>
          </a:ln>
        </p:spPr>
      </p:sp>
      <p:sp>
        <p:nvSpPr>
          <p:cNvPr id="7" name="Text 5"/>
          <p:cNvSpPr/>
          <p:nvPr/>
        </p:nvSpPr>
        <p:spPr>
          <a:xfrm>
            <a:off x="955477" y="5471279"/>
            <a:ext cx="2494359"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Barlow Bold" pitchFamily="34" charset="0"/>
                <a:ea typeface="Barlow Bold" pitchFamily="34" charset="-122"/>
                <a:cs typeface="Barlow Bold" pitchFamily="34" charset="-120"/>
              </a:rPr>
              <a:t>Panadería</a:t>
            </a:r>
            <a:endParaRPr lang="en-US" sz="1950" dirty="0"/>
          </a:p>
        </p:txBody>
      </p:sp>
      <p:sp>
        <p:nvSpPr>
          <p:cNvPr id="8" name="Shape 6"/>
          <p:cNvSpPr/>
          <p:nvPr/>
        </p:nvSpPr>
        <p:spPr>
          <a:xfrm>
            <a:off x="5192673" y="5274112"/>
            <a:ext cx="4244935" cy="706041"/>
          </a:xfrm>
          <a:prstGeom prst="roundRect">
            <a:avLst>
              <a:gd name="adj" fmla="val 40277"/>
            </a:avLst>
          </a:prstGeom>
          <a:solidFill>
            <a:srgbClr val="D4E9F7"/>
          </a:solidFill>
          <a:ln w="7620">
            <a:solidFill>
              <a:srgbClr val="BACFDD"/>
            </a:solidFill>
            <a:prstDash val="solid"/>
          </a:ln>
        </p:spPr>
      </p:sp>
      <p:sp>
        <p:nvSpPr>
          <p:cNvPr id="9" name="Text 7"/>
          <p:cNvSpPr/>
          <p:nvPr/>
        </p:nvSpPr>
        <p:spPr>
          <a:xfrm>
            <a:off x="5389840" y="5471279"/>
            <a:ext cx="2494359"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Barlow Bold" pitchFamily="34" charset="0"/>
                <a:ea typeface="Barlow Bold" pitchFamily="34" charset="-122"/>
                <a:cs typeface="Barlow Bold" pitchFamily="34" charset="-120"/>
              </a:rPr>
              <a:t>Charcutería</a:t>
            </a:r>
            <a:endParaRPr lang="en-US" sz="1950" dirty="0"/>
          </a:p>
        </p:txBody>
      </p:sp>
      <p:sp>
        <p:nvSpPr>
          <p:cNvPr id="10" name="Shape 8"/>
          <p:cNvSpPr/>
          <p:nvPr/>
        </p:nvSpPr>
        <p:spPr>
          <a:xfrm>
            <a:off x="9627156" y="5274112"/>
            <a:ext cx="4244816" cy="706041"/>
          </a:xfrm>
          <a:prstGeom prst="roundRect">
            <a:avLst>
              <a:gd name="adj" fmla="val 40277"/>
            </a:avLst>
          </a:prstGeom>
          <a:solidFill>
            <a:srgbClr val="D4E9F7"/>
          </a:solidFill>
          <a:ln w="7620">
            <a:solidFill>
              <a:srgbClr val="BACFDD"/>
            </a:solidFill>
            <a:prstDash val="solid"/>
          </a:ln>
        </p:spPr>
      </p:sp>
      <p:sp>
        <p:nvSpPr>
          <p:cNvPr id="11" name="Text 9"/>
          <p:cNvSpPr/>
          <p:nvPr/>
        </p:nvSpPr>
        <p:spPr>
          <a:xfrm>
            <a:off x="9824323" y="5471279"/>
            <a:ext cx="2494359"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Barlow Bold" pitchFamily="34" charset="0"/>
                <a:ea typeface="Barlow Bold" pitchFamily="34" charset="-122"/>
                <a:cs typeface="Barlow Bold" pitchFamily="34" charset="-120"/>
              </a:rPr>
              <a:t>Víveres Secos</a:t>
            </a:r>
            <a:endParaRPr lang="en-US" sz="1950" dirty="0"/>
          </a:p>
        </p:txBody>
      </p:sp>
      <p:sp>
        <p:nvSpPr>
          <p:cNvPr id="12" name="Text 10"/>
          <p:cNvSpPr/>
          <p:nvPr/>
        </p:nvSpPr>
        <p:spPr>
          <a:xfrm>
            <a:off x="758309" y="6193393"/>
            <a:ext cx="13113782" cy="303252"/>
          </a:xfrm>
          <a:prstGeom prst="rect">
            <a:avLst/>
          </a:prstGeom>
          <a:noFill/>
          <a:ln/>
        </p:spPr>
        <p:txBody>
          <a:bodyPr wrap="non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El local es atendido por sus dueños y siete empleados, divididos en las diferentes áreas.</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58309" y="655320"/>
            <a:ext cx="6221016" cy="623530"/>
          </a:xfrm>
          <a:prstGeom prst="rect">
            <a:avLst/>
          </a:prstGeom>
          <a:noFill/>
          <a:ln/>
        </p:spPr>
        <p:txBody>
          <a:bodyPr wrap="none" lIns="0" tIns="0" rIns="0" bIns="0" rtlCol="0" anchor="t"/>
          <a:lstStyle/>
          <a:p>
            <a:pPr marL="0" indent="0" algn="l">
              <a:lnSpc>
                <a:spcPts val="4900"/>
              </a:lnSpc>
              <a:buNone/>
            </a:pPr>
            <a:r>
              <a:rPr lang="en-US" sz="3900" b="1" dirty="0">
                <a:solidFill>
                  <a:srgbClr val="2E3C4E"/>
                </a:solidFill>
                <a:latin typeface="Barlow Bold" pitchFamily="34" charset="0"/>
                <a:ea typeface="Barlow Bold" pitchFamily="34" charset="-122"/>
                <a:cs typeface="Barlow Bold" pitchFamily="34" charset="-120"/>
              </a:rPr>
              <a:t>Planteamiento del Problema</a:t>
            </a:r>
            <a:endParaRPr lang="en-US" sz="3900" dirty="0"/>
          </a:p>
        </p:txBody>
      </p:sp>
      <p:sp>
        <p:nvSpPr>
          <p:cNvPr id="3" name="Text 1"/>
          <p:cNvSpPr/>
          <p:nvPr/>
        </p:nvSpPr>
        <p:spPr>
          <a:xfrm>
            <a:off x="758309" y="1657945"/>
            <a:ext cx="12791436" cy="606504"/>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El negocio de "La Frontera del Sabor C.G." ha implementado un prototipo de sistema automatizado para gestionar sus ventas. Sin embargo, este sistema presenta limitaciones significativas que impiden una gestión óptima y el pleno desarrollo del potencial del negocio.</a:t>
            </a:r>
            <a:endParaRPr lang="en-US" sz="1450" dirty="0"/>
          </a:p>
        </p:txBody>
      </p:sp>
      <p:sp>
        <p:nvSpPr>
          <p:cNvPr id="4" name="Text 2"/>
          <p:cNvSpPr/>
          <p:nvPr/>
        </p:nvSpPr>
        <p:spPr>
          <a:xfrm>
            <a:off x="758309" y="2548771"/>
            <a:ext cx="3695700" cy="311706"/>
          </a:xfrm>
          <a:prstGeom prst="rect">
            <a:avLst/>
          </a:prstGeom>
          <a:noFill/>
          <a:ln/>
        </p:spPr>
        <p:txBody>
          <a:bodyPr wrap="none" lIns="0" tIns="0" rIns="0" bIns="0" rtlCol="0" anchor="t"/>
          <a:lstStyle/>
          <a:p>
            <a:pPr marL="0" indent="0" algn="l">
              <a:lnSpc>
                <a:spcPts val="2450"/>
              </a:lnSpc>
              <a:buNone/>
            </a:pPr>
            <a:r>
              <a:rPr lang="en-US" sz="1950" b="1" dirty="0">
                <a:solidFill>
                  <a:srgbClr val="2E3C4E"/>
                </a:solidFill>
                <a:latin typeface="Barlow Bold" pitchFamily="34" charset="0"/>
                <a:ea typeface="Barlow Bold" pitchFamily="34" charset="-122"/>
                <a:cs typeface="Barlow Bold" pitchFamily="34" charset="-120"/>
              </a:rPr>
              <a:t>Razón o Necesidades del Negocio</a:t>
            </a:r>
            <a:endParaRPr lang="en-US" sz="1950" dirty="0"/>
          </a:p>
        </p:txBody>
      </p:sp>
      <p:sp>
        <p:nvSpPr>
          <p:cNvPr id="5" name="Text 3"/>
          <p:cNvSpPr/>
          <p:nvPr/>
        </p:nvSpPr>
        <p:spPr>
          <a:xfrm>
            <a:off x="758309" y="3144798"/>
            <a:ext cx="13113782" cy="909757"/>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La carencia de funcionalidades clave en el sistema actual impacta directamente en la capacidad de la empresa para mejorar su control financiero y ofrecer un servicio personalizado. Es crucial abordar estas deficiencias para garantizar la sostenibilidad y el crecimiento. Las principales áreas afectadas incluyen la gestión de clientes, el seguimiento de créditos y un inventario eficiente.</a:t>
            </a:r>
            <a:endParaRPr lang="en-US" sz="1450" dirty="0"/>
          </a:p>
        </p:txBody>
      </p:sp>
      <p:sp>
        <p:nvSpPr>
          <p:cNvPr id="6" name="Text 4"/>
          <p:cNvSpPr/>
          <p:nvPr/>
        </p:nvSpPr>
        <p:spPr>
          <a:xfrm>
            <a:off x="758309" y="4338876"/>
            <a:ext cx="2580203" cy="311706"/>
          </a:xfrm>
          <a:prstGeom prst="rect">
            <a:avLst/>
          </a:prstGeom>
          <a:noFill/>
          <a:ln/>
        </p:spPr>
        <p:txBody>
          <a:bodyPr wrap="none" lIns="0" tIns="0" rIns="0" bIns="0" rtlCol="0" anchor="t"/>
          <a:lstStyle/>
          <a:p>
            <a:pPr marL="0" indent="0" algn="l">
              <a:lnSpc>
                <a:spcPts val="2450"/>
              </a:lnSpc>
              <a:buNone/>
            </a:pPr>
            <a:r>
              <a:rPr lang="en-US" sz="1950" b="1" dirty="0">
                <a:solidFill>
                  <a:srgbClr val="2E3C4E"/>
                </a:solidFill>
                <a:latin typeface="Barlow Bold" pitchFamily="34" charset="0"/>
                <a:ea typeface="Barlow Bold" pitchFamily="34" charset="-122"/>
                <a:cs typeface="Barlow Bold" pitchFamily="34" charset="-120"/>
              </a:rPr>
              <a:t>Selección del Problema</a:t>
            </a:r>
            <a:endParaRPr lang="en-US" sz="1950" dirty="0"/>
          </a:p>
        </p:txBody>
      </p:sp>
      <p:sp>
        <p:nvSpPr>
          <p:cNvPr id="7" name="Text 5"/>
          <p:cNvSpPr/>
          <p:nvPr/>
        </p:nvSpPr>
        <p:spPr>
          <a:xfrm>
            <a:off x="758309" y="4934903"/>
            <a:ext cx="12791436" cy="1213009"/>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Entre las diversas limitaciones identificadas, la </a:t>
            </a:r>
            <a:r>
              <a:rPr lang="en-US" sz="1450" b="1" dirty="0">
                <a:solidFill>
                  <a:srgbClr val="384653"/>
                </a:solidFill>
                <a:latin typeface="Montserrat" pitchFamily="34" charset="0"/>
                <a:ea typeface="Montserrat" pitchFamily="34" charset="-122"/>
                <a:cs typeface="Montserrat" pitchFamily="34" charset="-120"/>
              </a:rPr>
              <a:t>Ausencia de Cuentas por Cobrar</a:t>
            </a:r>
            <a:r>
              <a:rPr lang="en-US" sz="1450" dirty="0">
                <a:solidFill>
                  <a:srgbClr val="384653"/>
                </a:solidFill>
                <a:latin typeface="Montserrat" pitchFamily="34" charset="0"/>
                <a:ea typeface="Montserrat" pitchFamily="34" charset="-122"/>
                <a:cs typeface="Montserrat" pitchFamily="34" charset="-120"/>
              </a:rPr>
              <a:t> se destaca como el problema más crítico y a la vez más abordable para iniciar una mejora. Este factor genera dificultades significativas en la gestión financiera, impidiendo un seguimiento adecuado de los créditos otorgados y los pagos pendientes. Resolver esta problemática no solo mejorará el flujo de caja, sino que también sentará las bases para una relación más estructurada con los clientes.Alternativa de Solución</a:t>
            </a:r>
            <a:endParaRPr lang="en-US" sz="1450" dirty="0"/>
          </a:p>
        </p:txBody>
      </p:sp>
      <p:sp>
        <p:nvSpPr>
          <p:cNvPr id="8" name="Text 6"/>
          <p:cNvSpPr/>
          <p:nvPr/>
        </p:nvSpPr>
        <p:spPr>
          <a:xfrm>
            <a:off x="758309" y="6361152"/>
            <a:ext cx="12791436" cy="1213009"/>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Para abordar los problemas identificados en la tienda "La Frontera del Sabor C.G.", se propone la implementación del sistema AdminPyme que permitira gestionar de manera eficiente las operaciones de ventas, inventario y facturación. Este sistema está diseñado para ser intuitivo y fácil de usar, con una interfaz amigable que permita a los empleados adaptarse rápidamente. La solución busca centralizar y automatizar las tareas clave del negocio, eliminando los procesos manuales que generan errores y retrasos.</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58309" y="1400651"/>
            <a:ext cx="9532501" cy="623530"/>
          </a:xfrm>
          <a:prstGeom prst="rect">
            <a:avLst/>
          </a:prstGeom>
          <a:noFill/>
          <a:ln/>
        </p:spPr>
        <p:txBody>
          <a:bodyPr wrap="none" lIns="0" tIns="0" rIns="0" bIns="0" rtlCol="0" anchor="t"/>
          <a:lstStyle/>
          <a:p>
            <a:pPr marL="0" indent="0" algn="l">
              <a:lnSpc>
                <a:spcPts val="4900"/>
              </a:lnSpc>
              <a:buNone/>
            </a:pPr>
            <a:r>
              <a:rPr lang="en-US" sz="3900" b="1" dirty="0">
                <a:solidFill>
                  <a:srgbClr val="2E3C4E"/>
                </a:solidFill>
                <a:latin typeface="Barlow Bold" pitchFamily="34" charset="0"/>
                <a:ea typeface="Barlow Bold" pitchFamily="34" charset="-122"/>
                <a:cs typeface="Barlow Bold" pitchFamily="34" charset="-120"/>
              </a:rPr>
              <a:t>Objetivo General del Proyecto "AdminPyme"</a:t>
            </a:r>
            <a:endParaRPr lang="en-US" sz="3900" dirty="0"/>
          </a:p>
        </p:txBody>
      </p:sp>
      <p:sp>
        <p:nvSpPr>
          <p:cNvPr id="3" name="Text 1"/>
          <p:cNvSpPr/>
          <p:nvPr/>
        </p:nvSpPr>
        <p:spPr>
          <a:xfrm>
            <a:off x="758309" y="2403277"/>
            <a:ext cx="13113782" cy="606504"/>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Desarrollar un sistema de información automatizado para la gestión de ventas, inventario y facturación en "La Frontera del Sabor C.G.", optimizando procesos y mejorando la satisfacción del cliente.</a:t>
            </a:r>
            <a:endParaRPr lang="en-US" sz="1450" dirty="0"/>
          </a:p>
        </p:txBody>
      </p:sp>
      <p:sp>
        <p:nvSpPr>
          <p:cNvPr id="4" name="Text 2"/>
          <p:cNvSpPr/>
          <p:nvPr/>
        </p:nvSpPr>
        <p:spPr>
          <a:xfrm>
            <a:off x="758309" y="3294102"/>
            <a:ext cx="2993350" cy="374094"/>
          </a:xfrm>
          <a:prstGeom prst="rect">
            <a:avLst/>
          </a:prstGeom>
          <a:noFill/>
          <a:ln/>
        </p:spPr>
        <p:txBody>
          <a:bodyPr wrap="none" lIns="0" tIns="0" rIns="0" bIns="0" rtlCol="0" anchor="t"/>
          <a:lstStyle/>
          <a:p>
            <a:pPr marL="0" indent="0" algn="l">
              <a:lnSpc>
                <a:spcPts val="2900"/>
              </a:lnSpc>
              <a:buNone/>
            </a:pPr>
            <a:r>
              <a:rPr lang="en-US" sz="2350" b="1" dirty="0">
                <a:solidFill>
                  <a:srgbClr val="2E3C4E"/>
                </a:solidFill>
                <a:latin typeface="Barlow Bold" pitchFamily="34" charset="0"/>
                <a:ea typeface="Barlow Bold" pitchFamily="34" charset="-122"/>
                <a:cs typeface="Barlow Bold" pitchFamily="34" charset="-120"/>
              </a:rPr>
              <a:t>Objetivos Específicos</a:t>
            </a:r>
            <a:endParaRPr lang="en-US" sz="2350" dirty="0"/>
          </a:p>
        </p:txBody>
      </p:sp>
      <p:sp>
        <p:nvSpPr>
          <p:cNvPr id="5" name="Shape 3"/>
          <p:cNvSpPr/>
          <p:nvPr/>
        </p:nvSpPr>
        <p:spPr>
          <a:xfrm>
            <a:off x="758309" y="3952518"/>
            <a:ext cx="426482" cy="426482"/>
          </a:xfrm>
          <a:prstGeom prst="roundRect">
            <a:avLst>
              <a:gd name="adj" fmla="val 66678"/>
            </a:avLst>
          </a:prstGeom>
          <a:solidFill>
            <a:srgbClr val="D4E9F7"/>
          </a:solidFill>
          <a:ln w="7620">
            <a:solidFill>
              <a:srgbClr val="BACFDD"/>
            </a:solidFill>
            <a:prstDash val="solid"/>
          </a:ln>
        </p:spPr>
      </p:sp>
      <p:sp>
        <p:nvSpPr>
          <p:cNvPr id="6" name="Text 4"/>
          <p:cNvSpPr/>
          <p:nvPr/>
        </p:nvSpPr>
        <p:spPr>
          <a:xfrm>
            <a:off x="821888" y="3978712"/>
            <a:ext cx="299323" cy="374094"/>
          </a:xfrm>
          <a:prstGeom prst="rect">
            <a:avLst/>
          </a:prstGeom>
          <a:noFill/>
          <a:ln/>
        </p:spPr>
        <p:txBody>
          <a:bodyPr wrap="none" lIns="0" tIns="0" rIns="0" bIns="0" rtlCol="0" anchor="t"/>
          <a:lstStyle/>
          <a:p>
            <a:pPr marL="0" indent="0" algn="ctr">
              <a:lnSpc>
                <a:spcPts val="2350"/>
              </a:lnSpc>
              <a:buNone/>
            </a:pPr>
            <a:r>
              <a:rPr lang="en-US" sz="2350" b="1" dirty="0">
                <a:solidFill>
                  <a:srgbClr val="384653"/>
                </a:solidFill>
                <a:latin typeface="Barlow Bold" pitchFamily="34" charset="0"/>
                <a:ea typeface="Barlow Bold" pitchFamily="34" charset="-122"/>
                <a:cs typeface="Barlow Bold" pitchFamily="34" charset="-120"/>
              </a:rPr>
              <a:t>1</a:t>
            </a:r>
            <a:endParaRPr lang="en-US" sz="2350" dirty="0"/>
          </a:p>
        </p:txBody>
      </p:sp>
      <p:sp>
        <p:nvSpPr>
          <p:cNvPr id="7" name="Text 5"/>
          <p:cNvSpPr/>
          <p:nvPr/>
        </p:nvSpPr>
        <p:spPr>
          <a:xfrm>
            <a:off x="1374338" y="4017645"/>
            <a:ext cx="2969895"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Barlow Bold" pitchFamily="34" charset="0"/>
                <a:ea typeface="Barlow Bold" pitchFamily="34" charset="-122"/>
                <a:cs typeface="Barlow Bold" pitchFamily="34" charset="-120"/>
              </a:rPr>
              <a:t>Identificar Requerimientos</a:t>
            </a:r>
            <a:endParaRPr lang="en-US" sz="1950" dirty="0"/>
          </a:p>
        </p:txBody>
      </p:sp>
      <p:sp>
        <p:nvSpPr>
          <p:cNvPr id="8" name="Text 6"/>
          <p:cNvSpPr/>
          <p:nvPr/>
        </p:nvSpPr>
        <p:spPr>
          <a:xfrm>
            <a:off x="1374338" y="4443055"/>
            <a:ext cx="5822394" cy="606504"/>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Definir los requerimientos técnicos y operativos necesarios para fortalecer el sistema existente.</a:t>
            </a:r>
            <a:endParaRPr lang="en-US" sz="1450" dirty="0"/>
          </a:p>
        </p:txBody>
      </p:sp>
      <p:sp>
        <p:nvSpPr>
          <p:cNvPr id="9" name="Shape 7"/>
          <p:cNvSpPr/>
          <p:nvPr/>
        </p:nvSpPr>
        <p:spPr>
          <a:xfrm>
            <a:off x="7433667" y="3952518"/>
            <a:ext cx="426482" cy="426482"/>
          </a:xfrm>
          <a:prstGeom prst="roundRect">
            <a:avLst>
              <a:gd name="adj" fmla="val 66678"/>
            </a:avLst>
          </a:prstGeom>
          <a:solidFill>
            <a:srgbClr val="D4E9F7"/>
          </a:solidFill>
          <a:ln w="7620">
            <a:solidFill>
              <a:srgbClr val="BACFDD"/>
            </a:solidFill>
            <a:prstDash val="solid"/>
          </a:ln>
        </p:spPr>
      </p:sp>
      <p:sp>
        <p:nvSpPr>
          <p:cNvPr id="10" name="Text 8"/>
          <p:cNvSpPr/>
          <p:nvPr/>
        </p:nvSpPr>
        <p:spPr>
          <a:xfrm>
            <a:off x="7497247" y="3978712"/>
            <a:ext cx="299323" cy="374094"/>
          </a:xfrm>
          <a:prstGeom prst="rect">
            <a:avLst/>
          </a:prstGeom>
          <a:noFill/>
          <a:ln/>
        </p:spPr>
        <p:txBody>
          <a:bodyPr wrap="none" lIns="0" tIns="0" rIns="0" bIns="0" rtlCol="0" anchor="t"/>
          <a:lstStyle/>
          <a:p>
            <a:pPr marL="0" indent="0" algn="ctr">
              <a:lnSpc>
                <a:spcPts val="2350"/>
              </a:lnSpc>
              <a:buNone/>
            </a:pPr>
            <a:r>
              <a:rPr lang="en-US" sz="2350" b="1" dirty="0">
                <a:solidFill>
                  <a:srgbClr val="384653"/>
                </a:solidFill>
                <a:latin typeface="Barlow Bold" pitchFamily="34" charset="0"/>
                <a:ea typeface="Barlow Bold" pitchFamily="34" charset="-122"/>
                <a:cs typeface="Barlow Bold" pitchFamily="34" charset="-120"/>
              </a:rPr>
              <a:t>2</a:t>
            </a:r>
            <a:endParaRPr lang="en-US" sz="2350" dirty="0"/>
          </a:p>
        </p:txBody>
      </p:sp>
      <p:sp>
        <p:nvSpPr>
          <p:cNvPr id="11" name="Text 9"/>
          <p:cNvSpPr/>
          <p:nvPr/>
        </p:nvSpPr>
        <p:spPr>
          <a:xfrm>
            <a:off x="8049697" y="4017645"/>
            <a:ext cx="4106347"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Barlow Bold" pitchFamily="34" charset="0"/>
                <a:ea typeface="Barlow Bold" pitchFamily="34" charset="-122"/>
                <a:cs typeface="Barlow Bold" pitchFamily="34" charset="-120"/>
              </a:rPr>
              <a:t>Actualizar e Integrar Funcionalidades</a:t>
            </a:r>
            <a:endParaRPr lang="en-US" sz="1950" dirty="0"/>
          </a:p>
        </p:txBody>
      </p:sp>
      <p:sp>
        <p:nvSpPr>
          <p:cNvPr id="12" name="Text 10"/>
          <p:cNvSpPr/>
          <p:nvPr/>
        </p:nvSpPr>
        <p:spPr>
          <a:xfrm>
            <a:off x="8049697" y="4443055"/>
            <a:ext cx="5682928" cy="606504"/>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Integrar módulos de registro de clientes y cuentas por cobrar, y mejorar el sistema de inventario.</a:t>
            </a:r>
            <a:endParaRPr lang="en-US" sz="1450" dirty="0"/>
          </a:p>
        </p:txBody>
      </p:sp>
      <p:sp>
        <p:nvSpPr>
          <p:cNvPr id="13" name="Shape 11"/>
          <p:cNvSpPr/>
          <p:nvPr/>
        </p:nvSpPr>
        <p:spPr>
          <a:xfrm>
            <a:off x="758309" y="5428655"/>
            <a:ext cx="426482" cy="426482"/>
          </a:xfrm>
          <a:prstGeom prst="roundRect">
            <a:avLst>
              <a:gd name="adj" fmla="val 66678"/>
            </a:avLst>
          </a:prstGeom>
          <a:solidFill>
            <a:srgbClr val="D4E9F7"/>
          </a:solidFill>
          <a:ln w="7620">
            <a:solidFill>
              <a:srgbClr val="BACFDD"/>
            </a:solidFill>
            <a:prstDash val="solid"/>
          </a:ln>
        </p:spPr>
      </p:sp>
      <p:sp>
        <p:nvSpPr>
          <p:cNvPr id="14" name="Text 12"/>
          <p:cNvSpPr/>
          <p:nvPr/>
        </p:nvSpPr>
        <p:spPr>
          <a:xfrm>
            <a:off x="821888" y="5454848"/>
            <a:ext cx="299323" cy="374094"/>
          </a:xfrm>
          <a:prstGeom prst="rect">
            <a:avLst/>
          </a:prstGeom>
          <a:noFill/>
          <a:ln/>
        </p:spPr>
        <p:txBody>
          <a:bodyPr wrap="none" lIns="0" tIns="0" rIns="0" bIns="0" rtlCol="0" anchor="t"/>
          <a:lstStyle/>
          <a:p>
            <a:pPr marL="0" indent="0" algn="ctr">
              <a:lnSpc>
                <a:spcPts val="2350"/>
              </a:lnSpc>
              <a:buNone/>
            </a:pPr>
            <a:r>
              <a:rPr lang="en-US" sz="2350" b="1" dirty="0">
                <a:solidFill>
                  <a:srgbClr val="384653"/>
                </a:solidFill>
                <a:latin typeface="Barlow Bold" pitchFamily="34" charset="0"/>
                <a:ea typeface="Barlow Bold" pitchFamily="34" charset="-122"/>
                <a:cs typeface="Barlow Bold" pitchFamily="34" charset="-120"/>
              </a:rPr>
              <a:t>3</a:t>
            </a:r>
            <a:endParaRPr lang="en-US" sz="2350" dirty="0"/>
          </a:p>
        </p:txBody>
      </p:sp>
      <p:sp>
        <p:nvSpPr>
          <p:cNvPr id="15" name="Text 13"/>
          <p:cNvSpPr/>
          <p:nvPr/>
        </p:nvSpPr>
        <p:spPr>
          <a:xfrm>
            <a:off x="1374338" y="5493782"/>
            <a:ext cx="2546271"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Barlow Bold" pitchFamily="34" charset="0"/>
                <a:ea typeface="Barlow Bold" pitchFamily="34" charset="-122"/>
                <a:cs typeface="Barlow Bold" pitchFamily="34" charset="-120"/>
              </a:rPr>
              <a:t>Crear y Probar Módulos</a:t>
            </a:r>
            <a:endParaRPr lang="en-US" sz="1950" dirty="0"/>
          </a:p>
        </p:txBody>
      </p:sp>
      <p:sp>
        <p:nvSpPr>
          <p:cNvPr id="16" name="Text 14"/>
          <p:cNvSpPr/>
          <p:nvPr/>
        </p:nvSpPr>
        <p:spPr>
          <a:xfrm>
            <a:off x="1374338" y="5919192"/>
            <a:ext cx="5822394" cy="909757"/>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Desarrollar los nuevos módulos y realizar pruebas de funcionamiento rigurosas para garantizar su correcta operación.</a:t>
            </a:r>
            <a:endParaRPr lang="en-US" sz="1450" dirty="0"/>
          </a:p>
        </p:txBody>
      </p:sp>
      <p:sp>
        <p:nvSpPr>
          <p:cNvPr id="17" name="Shape 15"/>
          <p:cNvSpPr/>
          <p:nvPr/>
        </p:nvSpPr>
        <p:spPr>
          <a:xfrm>
            <a:off x="7433667" y="5428655"/>
            <a:ext cx="426482" cy="426482"/>
          </a:xfrm>
          <a:prstGeom prst="roundRect">
            <a:avLst>
              <a:gd name="adj" fmla="val 66678"/>
            </a:avLst>
          </a:prstGeom>
          <a:solidFill>
            <a:srgbClr val="D4E9F7"/>
          </a:solidFill>
          <a:ln w="7620">
            <a:solidFill>
              <a:srgbClr val="BACFDD"/>
            </a:solidFill>
            <a:prstDash val="solid"/>
          </a:ln>
        </p:spPr>
      </p:sp>
      <p:sp>
        <p:nvSpPr>
          <p:cNvPr id="18" name="Text 16"/>
          <p:cNvSpPr/>
          <p:nvPr/>
        </p:nvSpPr>
        <p:spPr>
          <a:xfrm>
            <a:off x="7497247" y="5454848"/>
            <a:ext cx="299323" cy="374094"/>
          </a:xfrm>
          <a:prstGeom prst="rect">
            <a:avLst/>
          </a:prstGeom>
          <a:noFill/>
          <a:ln/>
        </p:spPr>
        <p:txBody>
          <a:bodyPr wrap="none" lIns="0" tIns="0" rIns="0" bIns="0" rtlCol="0" anchor="t"/>
          <a:lstStyle/>
          <a:p>
            <a:pPr marL="0" indent="0" algn="ctr">
              <a:lnSpc>
                <a:spcPts val="2350"/>
              </a:lnSpc>
              <a:buNone/>
            </a:pPr>
            <a:r>
              <a:rPr lang="en-US" sz="2350" b="1" dirty="0">
                <a:solidFill>
                  <a:srgbClr val="384653"/>
                </a:solidFill>
                <a:latin typeface="Barlow Bold" pitchFamily="34" charset="0"/>
                <a:ea typeface="Barlow Bold" pitchFamily="34" charset="-122"/>
                <a:cs typeface="Barlow Bold" pitchFamily="34" charset="-120"/>
              </a:rPr>
              <a:t>4</a:t>
            </a:r>
            <a:endParaRPr lang="en-US" sz="2350" dirty="0"/>
          </a:p>
        </p:txBody>
      </p:sp>
      <p:sp>
        <p:nvSpPr>
          <p:cNvPr id="19" name="Text 17"/>
          <p:cNvSpPr/>
          <p:nvPr/>
        </p:nvSpPr>
        <p:spPr>
          <a:xfrm>
            <a:off x="8049697" y="5493782"/>
            <a:ext cx="3426143"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Barlow Bold" pitchFamily="34" charset="0"/>
                <a:ea typeface="Barlow Bold" pitchFamily="34" charset="-122"/>
                <a:cs typeface="Barlow Bold" pitchFamily="34" charset="-120"/>
              </a:rPr>
              <a:t>Implementar y Evaluar Impacto</a:t>
            </a:r>
            <a:endParaRPr lang="en-US" sz="1950" dirty="0"/>
          </a:p>
        </p:txBody>
      </p:sp>
      <p:sp>
        <p:nvSpPr>
          <p:cNvPr id="20" name="Text 18"/>
          <p:cNvSpPr/>
          <p:nvPr/>
        </p:nvSpPr>
        <p:spPr>
          <a:xfrm>
            <a:off x="8049697" y="5919192"/>
            <a:ext cx="5533299" cy="909757"/>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Poner en marcha las actualizaciones y medir su impacto en la eficiencia operativa, la reducción de errores y la satisfacción del cliente.</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26043" y="499110"/>
            <a:ext cx="5537359" cy="597098"/>
          </a:xfrm>
          <a:prstGeom prst="rect">
            <a:avLst/>
          </a:prstGeom>
          <a:noFill/>
          <a:ln/>
        </p:spPr>
        <p:txBody>
          <a:bodyPr wrap="none" lIns="0" tIns="0" rIns="0" bIns="0" rtlCol="0" anchor="t"/>
          <a:lstStyle/>
          <a:p>
            <a:pPr marL="0" indent="0" algn="l">
              <a:lnSpc>
                <a:spcPts val="4700"/>
              </a:lnSpc>
              <a:buNone/>
            </a:pPr>
            <a:r>
              <a:rPr lang="en-US" sz="3750" b="1" dirty="0">
                <a:solidFill>
                  <a:srgbClr val="2E3C4E"/>
                </a:solidFill>
                <a:latin typeface="Barlow Bold" pitchFamily="34" charset="0"/>
                <a:ea typeface="Barlow Bold" pitchFamily="34" charset="-122"/>
                <a:cs typeface="Barlow Bold" pitchFamily="34" charset="-120"/>
              </a:rPr>
              <a:t>Justificación del Proyecto</a:t>
            </a:r>
            <a:endParaRPr lang="en-US" sz="3750" dirty="0"/>
          </a:p>
        </p:txBody>
      </p:sp>
      <p:sp>
        <p:nvSpPr>
          <p:cNvPr id="3" name="Text 1"/>
          <p:cNvSpPr/>
          <p:nvPr/>
        </p:nvSpPr>
        <p:spPr>
          <a:xfrm>
            <a:off x="726043" y="1459230"/>
            <a:ext cx="13178314" cy="581025"/>
          </a:xfrm>
          <a:prstGeom prst="rect">
            <a:avLst/>
          </a:prstGeom>
          <a:noFill/>
          <a:ln/>
        </p:spPr>
        <p:txBody>
          <a:bodyPr wrap="square" lIns="0" tIns="0" rIns="0" bIns="0" rtlCol="0" anchor="t"/>
          <a:lstStyle/>
          <a:p>
            <a:pPr marL="0" indent="0" algn="l">
              <a:lnSpc>
                <a:spcPts val="2250"/>
              </a:lnSpc>
              <a:buNone/>
            </a:pPr>
            <a:r>
              <a:rPr lang="en-US" sz="1400" dirty="0">
                <a:solidFill>
                  <a:srgbClr val="384653"/>
                </a:solidFill>
                <a:latin typeface="Montserrat" pitchFamily="34" charset="0"/>
                <a:ea typeface="Montserrat" pitchFamily="34" charset="-122"/>
                <a:cs typeface="Montserrat" pitchFamily="34" charset="-120"/>
              </a:rPr>
              <a:t>La transformación digital es esencial para la competitividad actual. Este proyecto nace de la necesidad de optimizar la gestión comercial en microempresas, abordando deficiencias operativas y la falta de datos precisos.</a:t>
            </a:r>
            <a:endParaRPr lang="en-US" sz="1400" dirty="0"/>
          </a:p>
        </p:txBody>
      </p:sp>
      <p:sp>
        <p:nvSpPr>
          <p:cNvPr id="4" name="Text 2"/>
          <p:cNvSpPr/>
          <p:nvPr/>
        </p:nvSpPr>
        <p:spPr>
          <a:xfrm>
            <a:off x="726043" y="2312432"/>
            <a:ext cx="2747724" cy="298490"/>
          </a:xfrm>
          <a:prstGeom prst="rect">
            <a:avLst/>
          </a:prstGeom>
          <a:noFill/>
          <a:ln/>
        </p:spPr>
        <p:txBody>
          <a:bodyPr wrap="none" lIns="0" tIns="0" rIns="0" bIns="0" rtlCol="0" anchor="t"/>
          <a:lstStyle/>
          <a:p>
            <a:pPr marL="0" indent="0" algn="l">
              <a:lnSpc>
                <a:spcPts val="2350"/>
              </a:lnSpc>
              <a:buNone/>
            </a:pPr>
            <a:r>
              <a:rPr lang="en-US" sz="1850" b="1" dirty="0">
                <a:solidFill>
                  <a:srgbClr val="2E3C4E"/>
                </a:solidFill>
                <a:latin typeface="Barlow Bold" pitchFamily="34" charset="0"/>
                <a:ea typeface="Barlow Bold" pitchFamily="34" charset="-122"/>
                <a:cs typeface="Barlow Bold" pitchFamily="34" charset="-120"/>
              </a:rPr>
              <a:t>Beneficios Técnicos Clave</a:t>
            </a:r>
            <a:endParaRPr lang="en-US" sz="1850" dirty="0"/>
          </a:p>
        </p:txBody>
      </p:sp>
      <p:sp>
        <p:nvSpPr>
          <p:cNvPr id="5" name="Text 3"/>
          <p:cNvSpPr/>
          <p:nvPr/>
        </p:nvSpPr>
        <p:spPr>
          <a:xfrm>
            <a:off x="726043" y="2883098"/>
            <a:ext cx="12773826" cy="581025"/>
          </a:xfrm>
          <a:prstGeom prst="rect">
            <a:avLst/>
          </a:prstGeom>
          <a:noFill/>
          <a:ln/>
        </p:spPr>
        <p:txBody>
          <a:bodyPr wrap="square" lIns="0" tIns="0" rIns="0" bIns="0" rtlCol="0" anchor="t"/>
          <a:lstStyle/>
          <a:p>
            <a:pPr marL="0" indent="0" algn="l">
              <a:lnSpc>
                <a:spcPts val="2250"/>
              </a:lnSpc>
              <a:buNone/>
            </a:pPr>
            <a:r>
              <a:rPr lang="en-US" sz="1400" dirty="0">
                <a:solidFill>
                  <a:srgbClr val="384653"/>
                </a:solidFill>
                <a:latin typeface="Montserrat" pitchFamily="34" charset="0"/>
                <a:ea typeface="Montserrat" pitchFamily="34" charset="-122"/>
                <a:cs typeface="Montserrat" pitchFamily="34" charset="-120"/>
              </a:rPr>
              <a:t>Implementar un sistema de gestión reducirá errores manuales, optimizará el registro de información y proporcionará datos en tiempo real. Esto facilita una toma de decisiones más ágil y fundamentada, mejorando la eficiencia y productividad.</a:t>
            </a:r>
            <a:endParaRPr lang="en-US" sz="1400" dirty="0"/>
          </a:p>
        </p:txBody>
      </p:sp>
      <p:sp>
        <p:nvSpPr>
          <p:cNvPr id="6" name="Text 4"/>
          <p:cNvSpPr/>
          <p:nvPr/>
        </p:nvSpPr>
        <p:spPr>
          <a:xfrm>
            <a:off x="726043" y="3736300"/>
            <a:ext cx="2388275" cy="298490"/>
          </a:xfrm>
          <a:prstGeom prst="rect">
            <a:avLst/>
          </a:prstGeom>
          <a:noFill/>
          <a:ln/>
        </p:spPr>
        <p:txBody>
          <a:bodyPr wrap="none" lIns="0" tIns="0" rIns="0" bIns="0" rtlCol="0" anchor="t"/>
          <a:lstStyle/>
          <a:p>
            <a:pPr marL="0" indent="0" algn="l">
              <a:lnSpc>
                <a:spcPts val="2350"/>
              </a:lnSpc>
              <a:buNone/>
            </a:pPr>
            <a:r>
              <a:rPr lang="en-US" sz="1850" b="1" dirty="0">
                <a:solidFill>
                  <a:srgbClr val="2E3C4E"/>
                </a:solidFill>
                <a:latin typeface="Barlow Bold" pitchFamily="34" charset="0"/>
                <a:ea typeface="Barlow Bold" pitchFamily="34" charset="-122"/>
                <a:cs typeface="Barlow Bold" pitchFamily="34" charset="-120"/>
              </a:rPr>
              <a:t>Impacto Social</a:t>
            </a:r>
            <a:endParaRPr lang="en-US" sz="1850" dirty="0"/>
          </a:p>
        </p:txBody>
      </p:sp>
      <p:sp>
        <p:nvSpPr>
          <p:cNvPr id="7" name="Text 5"/>
          <p:cNvSpPr/>
          <p:nvPr/>
        </p:nvSpPr>
        <p:spPr>
          <a:xfrm>
            <a:off x="726043" y="4306967"/>
            <a:ext cx="12773826" cy="581025"/>
          </a:xfrm>
          <a:prstGeom prst="rect">
            <a:avLst/>
          </a:prstGeom>
          <a:noFill/>
          <a:ln/>
        </p:spPr>
        <p:txBody>
          <a:bodyPr wrap="square" lIns="0" tIns="0" rIns="0" bIns="0" rtlCol="0" anchor="t"/>
          <a:lstStyle/>
          <a:p>
            <a:pPr marL="0" indent="0" algn="l">
              <a:lnSpc>
                <a:spcPts val="2250"/>
              </a:lnSpc>
              <a:buNone/>
            </a:pPr>
            <a:r>
              <a:rPr lang="en-US" sz="1400" dirty="0">
                <a:solidFill>
                  <a:srgbClr val="384653"/>
                </a:solidFill>
                <a:latin typeface="Montserrat" pitchFamily="34" charset="0"/>
                <a:ea typeface="Montserrat" pitchFamily="34" charset="-122"/>
                <a:cs typeface="Montserrat" pitchFamily="34" charset="-120"/>
              </a:rPr>
              <a:t>El proyecto busca mejorar la experiencia del cliente a través de procesos más fluidos y transparentes. Además, promueve la inclusión financiera al facilitar la gestión de créditos, fortaleciendo la relación entre la microempresa y su comunidad.</a:t>
            </a:r>
            <a:endParaRPr lang="en-US" sz="1400" dirty="0"/>
          </a:p>
        </p:txBody>
      </p:sp>
      <p:sp>
        <p:nvSpPr>
          <p:cNvPr id="8" name="Text 6"/>
          <p:cNvSpPr/>
          <p:nvPr/>
        </p:nvSpPr>
        <p:spPr>
          <a:xfrm>
            <a:off x="726043" y="5160169"/>
            <a:ext cx="2478405" cy="298490"/>
          </a:xfrm>
          <a:prstGeom prst="rect">
            <a:avLst/>
          </a:prstGeom>
          <a:noFill/>
          <a:ln/>
        </p:spPr>
        <p:txBody>
          <a:bodyPr wrap="none" lIns="0" tIns="0" rIns="0" bIns="0" rtlCol="0" anchor="t"/>
          <a:lstStyle/>
          <a:p>
            <a:pPr marL="0" indent="0" algn="l">
              <a:lnSpc>
                <a:spcPts val="2350"/>
              </a:lnSpc>
              <a:buNone/>
            </a:pPr>
            <a:r>
              <a:rPr lang="en-US" sz="1850" b="1" dirty="0">
                <a:solidFill>
                  <a:srgbClr val="2E3C4E"/>
                </a:solidFill>
                <a:latin typeface="Barlow Bold" pitchFamily="34" charset="0"/>
                <a:ea typeface="Barlow Bold" pitchFamily="34" charset="-122"/>
                <a:cs typeface="Barlow Bold" pitchFamily="34" charset="-120"/>
              </a:rPr>
              <a:t>Beneficios Económicos</a:t>
            </a:r>
            <a:endParaRPr lang="en-US" sz="1850" dirty="0"/>
          </a:p>
        </p:txBody>
      </p:sp>
      <p:sp>
        <p:nvSpPr>
          <p:cNvPr id="9" name="Text 7"/>
          <p:cNvSpPr/>
          <p:nvPr/>
        </p:nvSpPr>
        <p:spPr>
          <a:xfrm>
            <a:off x="726043" y="5730835"/>
            <a:ext cx="13178314" cy="581025"/>
          </a:xfrm>
          <a:prstGeom prst="rect">
            <a:avLst/>
          </a:prstGeom>
          <a:noFill/>
          <a:ln/>
        </p:spPr>
        <p:txBody>
          <a:bodyPr wrap="square" lIns="0" tIns="0" rIns="0" bIns="0" rtlCol="0" anchor="t"/>
          <a:lstStyle/>
          <a:p>
            <a:pPr marL="0" indent="0" algn="l">
              <a:lnSpc>
                <a:spcPts val="2250"/>
              </a:lnSpc>
              <a:buNone/>
            </a:pPr>
            <a:r>
              <a:rPr lang="en-US" sz="1400" dirty="0">
                <a:solidFill>
                  <a:srgbClr val="384653"/>
                </a:solidFill>
                <a:latin typeface="Montserrat" pitchFamily="34" charset="0"/>
                <a:ea typeface="Montserrat" pitchFamily="34" charset="-122"/>
                <a:cs typeface="Montserrat" pitchFamily="34" charset="-120"/>
              </a:rPr>
              <a:t>Se espera una reducción significativa de costos operativos por la automatización y disminución de errores. Simultáneamente, maximizará los ingresos mediante una gestión más efectiva de ventas y créditos, resultando en mayor rentabilidad y sostenibilidad.</a:t>
            </a:r>
            <a:endParaRPr lang="en-US" sz="1400" dirty="0"/>
          </a:p>
        </p:txBody>
      </p:sp>
      <p:sp>
        <p:nvSpPr>
          <p:cNvPr id="10" name="Text 8"/>
          <p:cNvSpPr/>
          <p:nvPr/>
        </p:nvSpPr>
        <p:spPr>
          <a:xfrm>
            <a:off x="726043" y="6584037"/>
            <a:ext cx="3524726" cy="298490"/>
          </a:xfrm>
          <a:prstGeom prst="rect">
            <a:avLst/>
          </a:prstGeom>
          <a:noFill/>
          <a:ln/>
        </p:spPr>
        <p:txBody>
          <a:bodyPr wrap="none" lIns="0" tIns="0" rIns="0" bIns="0" rtlCol="0" anchor="t"/>
          <a:lstStyle/>
          <a:p>
            <a:pPr marL="0" indent="0" algn="l">
              <a:lnSpc>
                <a:spcPts val="2350"/>
              </a:lnSpc>
              <a:buNone/>
            </a:pPr>
            <a:r>
              <a:rPr lang="en-US" sz="1850" b="1" dirty="0">
                <a:solidFill>
                  <a:srgbClr val="2E3C4E"/>
                </a:solidFill>
                <a:latin typeface="Barlow Bold" pitchFamily="34" charset="0"/>
                <a:ea typeface="Barlow Bold" pitchFamily="34" charset="-122"/>
                <a:cs typeface="Barlow Bold" pitchFamily="34" charset="-120"/>
              </a:rPr>
              <a:t>Desarrollo Profesional Estudiantil</a:t>
            </a:r>
            <a:endParaRPr lang="en-US" sz="1850" dirty="0"/>
          </a:p>
        </p:txBody>
      </p:sp>
      <p:sp>
        <p:nvSpPr>
          <p:cNvPr id="11" name="Text 9"/>
          <p:cNvSpPr/>
          <p:nvPr/>
        </p:nvSpPr>
        <p:spPr>
          <a:xfrm>
            <a:off x="726043" y="7154704"/>
            <a:ext cx="12773826" cy="581025"/>
          </a:xfrm>
          <a:prstGeom prst="rect">
            <a:avLst/>
          </a:prstGeom>
          <a:noFill/>
          <a:ln/>
        </p:spPr>
        <p:txBody>
          <a:bodyPr wrap="square" lIns="0" tIns="0" rIns="0" bIns="0" rtlCol="0" anchor="t"/>
          <a:lstStyle/>
          <a:p>
            <a:pPr marL="0" indent="0" algn="l">
              <a:lnSpc>
                <a:spcPts val="2250"/>
              </a:lnSpc>
              <a:buNone/>
            </a:pPr>
            <a:r>
              <a:rPr lang="en-US" sz="1400" dirty="0">
                <a:solidFill>
                  <a:srgbClr val="384653"/>
                </a:solidFill>
                <a:latin typeface="Montserrat" pitchFamily="34" charset="0"/>
                <a:ea typeface="Montserrat" pitchFamily="34" charset="-122"/>
                <a:cs typeface="Montserrat" pitchFamily="34" charset="-120"/>
              </a:rPr>
              <a:t>Para los estudiantes, este proyecto es una oportunidad invaluable para aplicar conocimientos teóricos en un contexto real, fortalecer habilidades técnicas y blandas, y contribuir a soluciones empresariales, preparándolos para futuros desafíos laborales.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70309" y="826889"/>
            <a:ext cx="7151132" cy="469106"/>
          </a:xfrm>
          <a:prstGeom prst="rect">
            <a:avLst/>
          </a:prstGeom>
          <a:noFill/>
          <a:ln/>
        </p:spPr>
        <p:txBody>
          <a:bodyPr wrap="none" lIns="0" tIns="0" rIns="0" bIns="0" rtlCol="0" anchor="t"/>
          <a:lstStyle/>
          <a:p>
            <a:pPr marL="0" indent="0" algn="l">
              <a:lnSpc>
                <a:spcPts val="3650"/>
              </a:lnSpc>
              <a:buNone/>
            </a:pPr>
            <a:r>
              <a:rPr lang="en-US" sz="2950" b="1" dirty="0">
                <a:solidFill>
                  <a:srgbClr val="2E3C4E"/>
                </a:solidFill>
                <a:latin typeface="Barlow Bold" pitchFamily="34" charset="0"/>
                <a:ea typeface="Barlow Bold" pitchFamily="34" charset="-122"/>
                <a:cs typeface="Barlow Bold" pitchFamily="34" charset="-120"/>
              </a:rPr>
              <a:t>Plan de Acción para el Sistema AdminPyme</a:t>
            </a:r>
            <a:endParaRPr lang="en-US" sz="2950" dirty="0"/>
          </a:p>
        </p:txBody>
      </p:sp>
      <p:sp>
        <p:nvSpPr>
          <p:cNvPr id="3" name="Shape 1"/>
          <p:cNvSpPr/>
          <p:nvPr/>
        </p:nvSpPr>
        <p:spPr>
          <a:xfrm>
            <a:off x="570309" y="1581150"/>
            <a:ext cx="13489781" cy="5821561"/>
          </a:xfrm>
          <a:prstGeom prst="roundRect">
            <a:avLst>
              <a:gd name="adj" fmla="val 3674"/>
            </a:avLst>
          </a:prstGeom>
          <a:noFill/>
          <a:ln w="7620">
            <a:solidFill>
              <a:srgbClr val="000000">
                <a:alpha val="8000"/>
              </a:srgbClr>
            </a:solidFill>
            <a:prstDash val="solid"/>
          </a:ln>
        </p:spPr>
      </p:sp>
      <p:sp>
        <p:nvSpPr>
          <p:cNvPr id="4" name="Shape 2"/>
          <p:cNvSpPr/>
          <p:nvPr/>
        </p:nvSpPr>
        <p:spPr>
          <a:xfrm>
            <a:off x="577929" y="1588770"/>
            <a:ext cx="13474541" cy="1098709"/>
          </a:xfrm>
          <a:prstGeom prst="rect">
            <a:avLst/>
          </a:prstGeom>
          <a:solidFill>
            <a:srgbClr val="FFFFFF">
              <a:alpha val="4000"/>
            </a:srgbClr>
          </a:solidFill>
          <a:ln/>
        </p:spPr>
      </p:sp>
      <p:sp>
        <p:nvSpPr>
          <p:cNvPr id="5" name="Text 3"/>
          <p:cNvSpPr/>
          <p:nvPr/>
        </p:nvSpPr>
        <p:spPr>
          <a:xfrm>
            <a:off x="720685" y="1681877"/>
            <a:ext cx="2406015" cy="684371"/>
          </a:xfrm>
          <a:prstGeom prst="rect">
            <a:avLst/>
          </a:prstGeom>
          <a:noFill/>
          <a:ln/>
        </p:spPr>
        <p:txBody>
          <a:bodyPr wrap="square" lIns="0" tIns="0" rIns="0" bIns="0" rtlCol="0" anchor="t"/>
          <a:lstStyle/>
          <a:p>
            <a:pPr marL="0" indent="0" algn="l">
              <a:lnSpc>
                <a:spcPts val="1750"/>
              </a:lnSpc>
              <a:buNone/>
            </a:pPr>
            <a:r>
              <a:rPr lang="en-US" sz="1100" dirty="0">
                <a:solidFill>
                  <a:srgbClr val="384653"/>
                </a:solidFill>
                <a:latin typeface="Montserrat" pitchFamily="34" charset="0"/>
                <a:ea typeface="Montserrat" pitchFamily="34" charset="-122"/>
                <a:cs typeface="Montserrat" pitchFamily="34" charset="-120"/>
              </a:rPr>
              <a:t>Identificar los requerimientos técnicos y operativos para fortalecer el sistema.</a:t>
            </a:r>
            <a:endParaRPr lang="en-US" sz="1100" dirty="0"/>
          </a:p>
        </p:txBody>
      </p:sp>
      <p:sp>
        <p:nvSpPr>
          <p:cNvPr id="6" name="Text 4"/>
          <p:cNvSpPr/>
          <p:nvPr/>
        </p:nvSpPr>
        <p:spPr>
          <a:xfrm>
            <a:off x="3419356" y="1681877"/>
            <a:ext cx="2402205" cy="912495"/>
          </a:xfrm>
          <a:prstGeom prst="rect">
            <a:avLst/>
          </a:prstGeom>
          <a:noFill/>
          <a:ln/>
        </p:spPr>
        <p:txBody>
          <a:bodyPr wrap="square" lIns="0" tIns="0" rIns="0" bIns="0" rtlCol="0" anchor="t"/>
          <a:lstStyle/>
          <a:p>
            <a:pPr marL="0" indent="0" algn="l">
              <a:lnSpc>
                <a:spcPts val="1750"/>
              </a:lnSpc>
              <a:buNone/>
            </a:pPr>
            <a:r>
              <a:rPr lang="en-US" sz="1100" dirty="0">
                <a:solidFill>
                  <a:srgbClr val="384653"/>
                </a:solidFill>
                <a:latin typeface="Montserrat" pitchFamily="34" charset="0"/>
                <a:ea typeface="Montserrat" pitchFamily="34" charset="-122"/>
                <a:cs typeface="Montserrat" pitchFamily="34" charset="-120"/>
              </a:rPr>
              <a:t>Realizar una serie de entrevistas sobre los requerimientos funcionales y no funcionales del sistema.</a:t>
            </a:r>
            <a:endParaRPr lang="en-US" sz="1100" dirty="0"/>
          </a:p>
        </p:txBody>
      </p:sp>
      <p:sp>
        <p:nvSpPr>
          <p:cNvPr id="7" name="Text 5"/>
          <p:cNvSpPr/>
          <p:nvPr/>
        </p:nvSpPr>
        <p:spPr>
          <a:xfrm>
            <a:off x="6114217" y="1681877"/>
            <a:ext cx="2402205" cy="228124"/>
          </a:xfrm>
          <a:prstGeom prst="rect">
            <a:avLst/>
          </a:prstGeom>
          <a:noFill/>
          <a:ln/>
        </p:spPr>
        <p:txBody>
          <a:bodyPr wrap="none" lIns="0" tIns="0" rIns="0" bIns="0" rtlCol="0" anchor="t"/>
          <a:lstStyle/>
          <a:p>
            <a:pPr marL="342900" indent="-342900" algn="l">
              <a:lnSpc>
                <a:spcPts val="1750"/>
              </a:lnSpc>
              <a:buSzPct val="100000"/>
              <a:buChar char="•"/>
            </a:pPr>
            <a:r>
              <a:rPr lang="en-US" sz="1100" dirty="0">
                <a:solidFill>
                  <a:srgbClr val="384653"/>
                </a:solidFill>
                <a:latin typeface="Montserrat" pitchFamily="34" charset="0"/>
                <a:ea typeface="Montserrat" pitchFamily="34" charset="-122"/>
                <a:cs typeface="Montserrat" pitchFamily="34" charset="-120"/>
              </a:rPr>
              <a:t>Libros y cuadernos.</a:t>
            </a:r>
            <a:endParaRPr lang="en-US" sz="1100" dirty="0"/>
          </a:p>
        </p:txBody>
      </p:sp>
      <p:sp>
        <p:nvSpPr>
          <p:cNvPr id="8" name="Text 6"/>
          <p:cNvSpPr/>
          <p:nvPr/>
        </p:nvSpPr>
        <p:spPr>
          <a:xfrm>
            <a:off x="6114217" y="1952744"/>
            <a:ext cx="2402205" cy="228124"/>
          </a:xfrm>
          <a:prstGeom prst="rect">
            <a:avLst/>
          </a:prstGeom>
          <a:noFill/>
          <a:ln/>
        </p:spPr>
        <p:txBody>
          <a:bodyPr wrap="none" lIns="0" tIns="0" rIns="0" bIns="0" rtlCol="0" anchor="t"/>
          <a:lstStyle/>
          <a:p>
            <a:pPr marL="342900" indent="-342900" algn="l">
              <a:lnSpc>
                <a:spcPts val="1750"/>
              </a:lnSpc>
              <a:buSzPct val="100000"/>
              <a:buChar char="•"/>
            </a:pPr>
            <a:r>
              <a:rPr lang="en-US" sz="1100" dirty="0">
                <a:solidFill>
                  <a:srgbClr val="384653"/>
                </a:solidFill>
                <a:latin typeface="Montserrat" pitchFamily="34" charset="0"/>
                <a:ea typeface="Montserrat" pitchFamily="34" charset="-122"/>
                <a:cs typeface="Montserrat" pitchFamily="34" charset="-120"/>
              </a:rPr>
              <a:t>Preguntas prearmadas.</a:t>
            </a:r>
            <a:endParaRPr lang="en-US" sz="1100" dirty="0"/>
          </a:p>
        </p:txBody>
      </p:sp>
      <p:sp>
        <p:nvSpPr>
          <p:cNvPr id="9" name="Text 7"/>
          <p:cNvSpPr/>
          <p:nvPr/>
        </p:nvSpPr>
        <p:spPr>
          <a:xfrm>
            <a:off x="8809077" y="1681877"/>
            <a:ext cx="2402205" cy="228124"/>
          </a:xfrm>
          <a:prstGeom prst="rect">
            <a:avLst/>
          </a:prstGeom>
          <a:noFill/>
          <a:ln/>
        </p:spPr>
        <p:txBody>
          <a:bodyPr wrap="none" lIns="0" tIns="0" rIns="0" bIns="0" rtlCol="0" anchor="t"/>
          <a:lstStyle/>
          <a:p>
            <a:pPr marL="342900" indent="-342900" algn="l">
              <a:lnSpc>
                <a:spcPts val="1750"/>
              </a:lnSpc>
              <a:buSzPct val="100000"/>
              <a:buChar char="•"/>
            </a:pPr>
            <a:r>
              <a:rPr lang="en-US" sz="1100" dirty="0">
                <a:solidFill>
                  <a:srgbClr val="384653"/>
                </a:solidFill>
                <a:latin typeface="Montserrat" pitchFamily="34" charset="0"/>
                <a:ea typeface="Montserrat" pitchFamily="34" charset="-122"/>
                <a:cs typeface="Montserrat" pitchFamily="34" charset="-120"/>
              </a:rPr>
              <a:t>25 de febrero de 2025.</a:t>
            </a:r>
            <a:endParaRPr lang="en-US" sz="1100" dirty="0"/>
          </a:p>
        </p:txBody>
      </p:sp>
      <p:sp>
        <p:nvSpPr>
          <p:cNvPr id="10" name="Text 8"/>
          <p:cNvSpPr/>
          <p:nvPr/>
        </p:nvSpPr>
        <p:spPr>
          <a:xfrm>
            <a:off x="11503938" y="1681877"/>
            <a:ext cx="2406015" cy="456248"/>
          </a:xfrm>
          <a:prstGeom prst="rect">
            <a:avLst/>
          </a:prstGeom>
          <a:noFill/>
          <a:ln/>
        </p:spPr>
        <p:txBody>
          <a:bodyPr wrap="square" lIns="0" tIns="0" rIns="0" bIns="0" rtlCol="0" anchor="t"/>
          <a:lstStyle/>
          <a:p>
            <a:pPr marL="0" indent="0" algn="l">
              <a:lnSpc>
                <a:spcPts val="1750"/>
              </a:lnSpc>
              <a:buNone/>
            </a:pPr>
            <a:r>
              <a:rPr lang="en-US" sz="1100" dirty="0">
                <a:solidFill>
                  <a:srgbClr val="384653"/>
                </a:solidFill>
                <a:latin typeface="Montserrat" pitchFamily="34" charset="0"/>
                <a:ea typeface="Montserrat" pitchFamily="34" charset="-122"/>
                <a:cs typeface="Montserrat" pitchFamily="34" charset="-120"/>
              </a:rPr>
              <a:t>Eddy Pacheco, Frankelbert Bolívar, Juan Ruiz.</a:t>
            </a:r>
            <a:endParaRPr lang="en-US" sz="1100" dirty="0"/>
          </a:p>
        </p:txBody>
      </p:sp>
      <p:sp>
        <p:nvSpPr>
          <p:cNvPr id="11" name="Shape 9"/>
          <p:cNvSpPr/>
          <p:nvPr/>
        </p:nvSpPr>
        <p:spPr>
          <a:xfrm>
            <a:off x="577929" y="2687479"/>
            <a:ext cx="13474541" cy="2576155"/>
          </a:xfrm>
          <a:prstGeom prst="rect">
            <a:avLst/>
          </a:prstGeom>
          <a:solidFill>
            <a:srgbClr val="000000">
              <a:alpha val="4000"/>
            </a:srgbClr>
          </a:solidFill>
          <a:ln/>
        </p:spPr>
      </p:sp>
      <p:sp>
        <p:nvSpPr>
          <p:cNvPr id="12" name="Text 10"/>
          <p:cNvSpPr/>
          <p:nvPr/>
        </p:nvSpPr>
        <p:spPr>
          <a:xfrm>
            <a:off x="720685" y="2780586"/>
            <a:ext cx="2406015" cy="1140619"/>
          </a:xfrm>
          <a:prstGeom prst="rect">
            <a:avLst/>
          </a:prstGeom>
          <a:noFill/>
          <a:ln/>
        </p:spPr>
        <p:txBody>
          <a:bodyPr wrap="square" lIns="0" tIns="0" rIns="0" bIns="0" rtlCol="0" anchor="t"/>
          <a:lstStyle/>
          <a:p>
            <a:pPr marL="0" indent="0" algn="l">
              <a:lnSpc>
                <a:spcPts val="1750"/>
              </a:lnSpc>
              <a:buNone/>
            </a:pPr>
            <a:r>
              <a:rPr lang="en-US" sz="1100" dirty="0">
                <a:solidFill>
                  <a:srgbClr val="384653"/>
                </a:solidFill>
                <a:latin typeface="Montserrat" pitchFamily="34" charset="0"/>
                <a:ea typeface="Montserrat" pitchFamily="34" charset="-122"/>
                <a:cs typeface="Montserrat" pitchFamily="34" charset="-120"/>
              </a:rPr>
              <a:t>Actualizar el sistema para que integre las funcionalidades de registro de clientes y cuentas por cobrar, y mejore el sistema de inventario.</a:t>
            </a:r>
            <a:endParaRPr lang="en-US" sz="1100" dirty="0"/>
          </a:p>
        </p:txBody>
      </p:sp>
      <p:sp>
        <p:nvSpPr>
          <p:cNvPr id="13" name="Text 11"/>
          <p:cNvSpPr/>
          <p:nvPr/>
        </p:nvSpPr>
        <p:spPr>
          <a:xfrm>
            <a:off x="3419356" y="2780586"/>
            <a:ext cx="2402205" cy="684371"/>
          </a:xfrm>
          <a:prstGeom prst="rect">
            <a:avLst/>
          </a:prstGeom>
          <a:noFill/>
          <a:ln/>
        </p:spPr>
        <p:txBody>
          <a:bodyPr wrap="square" lIns="0" tIns="0" rIns="0" bIns="0" rtlCol="0" anchor="t"/>
          <a:lstStyle/>
          <a:p>
            <a:pPr marL="342900" indent="-342900" algn="l">
              <a:lnSpc>
                <a:spcPts val="1750"/>
              </a:lnSpc>
              <a:buSzPct val="100000"/>
              <a:buChar char="•"/>
            </a:pPr>
            <a:r>
              <a:rPr lang="en-US" sz="1100" dirty="0">
                <a:solidFill>
                  <a:srgbClr val="384653"/>
                </a:solidFill>
                <a:latin typeface="Montserrat" pitchFamily="34" charset="0"/>
                <a:ea typeface="Montserrat" pitchFamily="34" charset="-122"/>
                <a:cs typeface="Montserrat" pitchFamily="34" charset="-120"/>
              </a:rPr>
              <a:t>Modificación de la base de datos para poder integrarla al sistema de manera práctica.</a:t>
            </a:r>
            <a:endParaRPr lang="en-US" sz="1100" dirty="0"/>
          </a:p>
        </p:txBody>
      </p:sp>
      <p:sp>
        <p:nvSpPr>
          <p:cNvPr id="14" name="Text 12"/>
          <p:cNvSpPr/>
          <p:nvPr/>
        </p:nvSpPr>
        <p:spPr>
          <a:xfrm>
            <a:off x="3419356" y="3787616"/>
            <a:ext cx="2402205" cy="684371"/>
          </a:xfrm>
          <a:prstGeom prst="rect">
            <a:avLst/>
          </a:prstGeom>
          <a:noFill/>
          <a:ln/>
        </p:spPr>
        <p:txBody>
          <a:bodyPr wrap="square" lIns="0" tIns="0" rIns="0" bIns="0" rtlCol="0" anchor="t"/>
          <a:lstStyle/>
          <a:p>
            <a:pPr marL="342900" indent="-342900" algn="l">
              <a:lnSpc>
                <a:spcPts val="1750"/>
              </a:lnSpc>
              <a:buSzPct val="100000"/>
              <a:buChar char="•"/>
            </a:pPr>
            <a:r>
              <a:rPr lang="en-US" sz="1100" dirty="0">
                <a:solidFill>
                  <a:srgbClr val="384653"/>
                </a:solidFill>
                <a:latin typeface="Montserrat" pitchFamily="34" charset="0"/>
                <a:ea typeface="Montserrat" pitchFamily="34" charset="-122"/>
                <a:cs typeface="Montserrat" pitchFamily="34" charset="-120"/>
              </a:rPr>
              <a:t>Modificación del código para adaptarle las nuevas funciones.</a:t>
            </a:r>
            <a:endParaRPr lang="en-US" sz="1100" dirty="0"/>
          </a:p>
        </p:txBody>
      </p:sp>
      <p:sp>
        <p:nvSpPr>
          <p:cNvPr id="15" name="Text 13"/>
          <p:cNvSpPr/>
          <p:nvPr/>
        </p:nvSpPr>
        <p:spPr>
          <a:xfrm>
            <a:off x="3419356" y="4565093"/>
            <a:ext cx="2402205" cy="456248"/>
          </a:xfrm>
          <a:prstGeom prst="rect">
            <a:avLst/>
          </a:prstGeom>
          <a:noFill/>
          <a:ln/>
        </p:spPr>
        <p:txBody>
          <a:bodyPr wrap="square" lIns="0" tIns="0" rIns="0" bIns="0" rtlCol="0" anchor="t"/>
          <a:lstStyle/>
          <a:p>
            <a:pPr marL="342900" indent="-342900" algn="l">
              <a:lnSpc>
                <a:spcPts val="1750"/>
              </a:lnSpc>
              <a:buSzPct val="100000"/>
              <a:buChar char="•"/>
            </a:pPr>
            <a:r>
              <a:rPr lang="en-US" sz="1100" dirty="0">
                <a:solidFill>
                  <a:srgbClr val="384653"/>
                </a:solidFill>
                <a:latin typeface="Montserrat" pitchFamily="34" charset="0"/>
                <a:ea typeface="Montserrat" pitchFamily="34" charset="-122"/>
                <a:cs typeface="Montserrat" pitchFamily="34" charset="-120"/>
              </a:rPr>
              <a:t>Modificar el diseño de las interfaces gráficas.</a:t>
            </a:r>
            <a:endParaRPr lang="en-US" sz="1100" dirty="0"/>
          </a:p>
        </p:txBody>
      </p:sp>
      <p:sp>
        <p:nvSpPr>
          <p:cNvPr id="16" name="Text 14"/>
          <p:cNvSpPr/>
          <p:nvPr/>
        </p:nvSpPr>
        <p:spPr>
          <a:xfrm>
            <a:off x="6114217" y="2780586"/>
            <a:ext cx="2402205" cy="228124"/>
          </a:xfrm>
          <a:prstGeom prst="rect">
            <a:avLst/>
          </a:prstGeom>
          <a:noFill/>
          <a:ln/>
        </p:spPr>
        <p:txBody>
          <a:bodyPr wrap="none" lIns="0" tIns="0" rIns="0" bIns="0" rtlCol="0" anchor="t"/>
          <a:lstStyle/>
          <a:p>
            <a:pPr marL="342900" indent="-342900" algn="l">
              <a:lnSpc>
                <a:spcPts val="1750"/>
              </a:lnSpc>
              <a:buSzPct val="100000"/>
              <a:buChar char="•"/>
            </a:pPr>
            <a:r>
              <a:rPr lang="en-US" sz="1100" dirty="0">
                <a:solidFill>
                  <a:srgbClr val="384653"/>
                </a:solidFill>
                <a:latin typeface="Montserrat" pitchFamily="34" charset="0"/>
                <a:ea typeface="Montserrat" pitchFamily="34" charset="-122"/>
                <a:cs typeface="Montserrat" pitchFamily="34" charset="-120"/>
              </a:rPr>
              <a:t>MariaDB.</a:t>
            </a:r>
            <a:endParaRPr lang="en-US" sz="1100" dirty="0"/>
          </a:p>
        </p:txBody>
      </p:sp>
      <p:sp>
        <p:nvSpPr>
          <p:cNvPr id="17" name="Text 15"/>
          <p:cNvSpPr/>
          <p:nvPr/>
        </p:nvSpPr>
        <p:spPr>
          <a:xfrm>
            <a:off x="6114217" y="3051453"/>
            <a:ext cx="2402205" cy="456248"/>
          </a:xfrm>
          <a:prstGeom prst="rect">
            <a:avLst/>
          </a:prstGeom>
          <a:noFill/>
          <a:ln/>
        </p:spPr>
        <p:txBody>
          <a:bodyPr wrap="square" lIns="0" tIns="0" rIns="0" bIns="0" rtlCol="0" anchor="t"/>
          <a:lstStyle/>
          <a:p>
            <a:pPr marL="342900" indent="-342900" algn="l">
              <a:lnSpc>
                <a:spcPts val="1750"/>
              </a:lnSpc>
              <a:buSzPct val="100000"/>
              <a:buChar char="•"/>
            </a:pPr>
            <a:r>
              <a:rPr lang="en-US" sz="1100" dirty="0">
                <a:solidFill>
                  <a:srgbClr val="384653"/>
                </a:solidFill>
                <a:latin typeface="Montserrat" pitchFamily="34" charset="0"/>
                <a:ea typeface="Montserrat" pitchFamily="34" charset="-122"/>
                <a:cs typeface="Montserrat" pitchFamily="34" charset="-120"/>
              </a:rPr>
              <a:t>Utilizamos el IDE NetBeans para la renovación del código.</a:t>
            </a:r>
            <a:endParaRPr lang="en-US" sz="1100" dirty="0"/>
          </a:p>
        </p:txBody>
      </p:sp>
      <p:sp>
        <p:nvSpPr>
          <p:cNvPr id="18" name="Text 16"/>
          <p:cNvSpPr/>
          <p:nvPr/>
        </p:nvSpPr>
        <p:spPr>
          <a:xfrm>
            <a:off x="6114217" y="3803029"/>
            <a:ext cx="2402205" cy="228124"/>
          </a:xfrm>
          <a:prstGeom prst="rect">
            <a:avLst/>
          </a:prstGeom>
          <a:noFill/>
          <a:ln/>
        </p:spPr>
        <p:txBody>
          <a:bodyPr wrap="none" lIns="0" tIns="0" rIns="0" bIns="0" rtlCol="0" anchor="t"/>
          <a:lstStyle/>
          <a:p>
            <a:pPr marL="342900" indent="-342900" algn="l">
              <a:lnSpc>
                <a:spcPts val="1750"/>
              </a:lnSpc>
              <a:buSzPct val="100000"/>
              <a:buChar char="•"/>
            </a:pPr>
            <a:r>
              <a:rPr lang="en-US" sz="1100" dirty="0">
                <a:solidFill>
                  <a:srgbClr val="384653"/>
                </a:solidFill>
                <a:latin typeface="Montserrat" pitchFamily="34" charset="0"/>
                <a:ea typeface="Montserrat" pitchFamily="34" charset="-122"/>
                <a:cs typeface="Montserrat" pitchFamily="34" charset="-120"/>
              </a:rPr>
              <a:t>Computadora.</a:t>
            </a:r>
            <a:endParaRPr lang="en-US" sz="1100" dirty="0"/>
          </a:p>
        </p:txBody>
      </p:sp>
      <p:sp>
        <p:nvSpPr>
          <p:cNvPr id="19" name="Text 17"/>
          <p:cNvSpPr/>
          <p:nvPr/>
        </p:nvSpPr>
        <p:spPr>
          <a:xfrm>
            <a:off x="8809077" y="2780586"/>
            <a:ext cx="2402205" cy="228124"/>
          </a:xfrm>
          <a:prstGeom prst="rect">
            <a:avLst/>
          </a:prstGeom>
          <a:noFill/>
          <a:ln/>
        </p:spPr>
        <p:txBody>
          <a:bodyPr wrap="none" lIns="0" tIns="0" rIns="0" bIns="0" rtlCol="0" anchor="t"/>
          <a:lstStyle/>
          <a:p>
            <a:pPr marL="342900" indent="-342900" algn="l">
              <a:lnSpc>
                <a:spcPts val="1750"/>
              </a:lnSpc>
              <a:buSzPct val="100000"/>
              <a:buChar char="•"/>
            </a:pPr>
            <a:r>
              <a:rPr lang="en-US" sz="1100" dirty="0">
                <a:solidFill>
                  <a:srgbClr val="384653"/>
                </a:solidFill>
                <a:latin typeface="Montserrat" pitchFamily="34" charset="0"/>
                <a:ea typeface="Montserrat" pitchFamily="34" charset="-122"/>
                <a:cs typeface="Montserrat" pitchFamily="34" charset="-120"/>
              </a:rPr>
              <a:t>26 de marzo de 2025.</a:t>
            </a:r>
            <a:endParaRPr lang="en-US" sz="1100" dirty="0"/>
          </a:p>
        </p:txBody>
      </p:sp>
      <p:sp>
        <p:nvSpPr>
          <p:cNvPr id="20" name="Text 18"/>
          <p:cNvSpPr/>
          <p:nvPr/>
        </p:nvSpPr>
        <p:spPr>
          <a:xfrm>
            <a:off x="8809077" y="3051453"/>
            <a:ext cx="2402205" cy="228124"/>
          </a:xfrm>
          <a:prstGeom prst="rect">
            <a:avLst/>
          </a:prstGeom>
          <a:noFill/>
          <a:ln/>
        </p:spPr>
        <p:txBody>
          <a:bodyPr wrap="none" lIns="0" tIns="0" rIns="0" bIns="0" rtlCol="0" anchor="t"/>
          <a:lstStyle/>
          <a:p>
            <a:pPr marL="342900" indent="-342900" algn="l">
              <a:lnSpc>
                <a:spcPts val="1750"/>
              </a:lnSpc>
              <a:buSzPct val="100000"/>
              <a:buChar char="•"/>
            </a:pPr>
            <a:r>
              <a:rPr lang="en-US" sz="1100" dirty="0">
                <a:solidFill>
                  <a:srgbClr val="384653"/>
                </a:solidFill>
                <a:latin typeface="Montserrat" pitchFamily="34" charset="0"/>
                <a:ea typeface="Montserrat" pitchFamily="34" charset="-122"/>
                <a:cs typeface="Montserrat" pitchFamily="34" charset="-120"/>
              </a:rPr>
              <a:t>15 de agosto de 2025.</a:t>
            </a:r>
            <a:endParaRPr lang="en-US" sz="1100" dirty="0"/>
          </a:p>
        </p:txBody>
      </p:sp>
      <p:sp>
        <p:nvSpPr>
          <p:cNvPr id="21" name="Text 19"/>
          <p:cNvSpPr/>
          <p:nvPr/>
        </p:nvSpPr>
        <p:spPr>
          <a:xfrm>
            <a:off x="8809077" y="3322320"/>
            <a:ext cx="2402205" cy="228124"/>
          </a:xfrm>
          <a:prstGeom prst="rect">
            <a:avLst/>
          </a:prstGeom>
          <a:noFill/>
          <a:ln/>
        </p:spPr>
        <p:txBody>
          <a:bodyPr wrap="none" lIns="0" tIns="0" rIns="0" bIns="0" rtlCol="0" anchor="t"/>
          <a:lstStyle/>
          <a:p>
            <a:pPr marL="342900" indent="-342900" algn="l">
              <a:lnSpc>
                <a:spcPts val="1750"/>
              </a:lnSpc>
              <a:buSzPct val="100000"/>
              <a:buChar char="•"/>
            </a:pPr>
            <a:r>
              <a:rPr lang="en-US" sz="1100" dirty="0">
                <a:solidFill>
                  <a:srgbClr val="384653"/>
                </a:solidFill>
                <a:latin typeface="Montserrat" pitchFamily="34" charset="0"/>
                <a:ea typeface="Montserrat" pitchFamily="34" charset="-122"/>
                <a:cs typeface="Montserrat" pitchFamily="34" charset="-120"/>
              </a:rPr>
              <a:t>16 de septiembre de 2025.</a:t>
            </a:r>
            <a:endParaRPr lang="en-US" sz="1100" dirty="0"/>
          </a:p>
        </p:txBody>
      </p:sp>
      <p:sp>
        <p:nvSpPr>
          <p:cNvPr id="22" name="Text 20"/>
          <p:cNvSpPr/>
          <p:nvPr/>
        </p:nvSpPr>
        <p:spPr>
          <a:xfrm>
            <a:off x="11503938" y="2780586"/>
            <a:ext cx="2406015" cy="456248"/>
          </a:xfrm>
          <a:prstGeom prst="rect">
            <a:avLst/>
          </a:prstGeom>
          <a:noFill/>
          <a:ln/>
        </p:spPr>
        <p:txBody>
          <a:bodyPr wrap="square" lIns="0" tIns="0" rIns="0" bIns="0" rtlCol="0" anchor="t"/>
          <a:lstStyle/>
          <a:p>
            <a:pPr marL="0" indent="0" algn="l">
              <a:lnSpc>
                <a:spcPts val="1750"/>
              </a:lnSpc>
              <a:buNone/>
            </a:pPr>
            <a:r>
              <a:rPr lang="en-US" sz="1100" dirty="0">
                <a:solidFill>
                  <a:srgbClr val="384653"/>
                </a:solidFill>
                <a:latin typeface="Montserrat" pitchFamily="34" charset="0"/>
                <a:ea typeface="Montserrat" pitchFamily="34" charset="-122"/>
                <a:cs typeface="Montserrat" pitchFamily="34" charset="-120"/>
              </a:rPr>
              <a:t>Eddy Pacheco, Frankelbert Bolívar, Juan Ruiz.</a:t>
            </a:r>
            <a:endParaRPr lang="en-US" sz="1100" dirty="0"/>
          </a:p>
        </p:txBody>
      </p:sp>
      <p:sp>
        <p:nvSpPr>
          <p:cNvPr id="23" name="Shape 21"/>
          <p:cNvSpPr/>
          <p:nvPr/>
        </p:nvSpPr>
        <p:spPr>
          <a:xfrm>
            <a:off x="577929" y="5220891"/>
            <a:ext cx="13474541" cy="1326833"/>
          </a:xfrm>
          <a:prstGeom prst="rect">
            <a:avLst/>
          </a:prstGeom>
          <a:solidFill>
            <a:srgbClr val="FFFFFF">
              <a:alpha val="4000"/>
            </a:srgbClr>
          </a:solidFill>
          <a:ln/>
        </p:spPr>
      </p:sp>
      <p:sp>
        <p:nvSpPr>
          <p:cNvPr id="24" name="Text 22"/>
          <p:cNvSpPr/>
          <p:nvPr/>
        </p:nvSpPr>
        <p:spPr>
          <a:xfrm>
            <a:off x="720685" y="5313998"/>
            <a:ext cx="2406015" cy="1140619"/>
          </a:xfrm>
          <a:prstGeom prst="rect">
            <a:avLst/>
          </a:prstGeom>
          <a:noFill/>
          <a:ln/>
        </p:spPr>
        <p:txBody>
          <a:bodyPr wrap="square" lIns="0" tIns="0" rIns="0" bIns="0" rtlCol="0" anchor="t"/>
          <a:lstStyle/>
          <a:p>
            <a:pPr marL="0" indent="0" algn="l">
              <a:lnSpc>
                <a:spcPts val="1750"/>
              </a:lnSpc>
              <a:buNone/>
            </a:pPr>
            <a:r>
              <a:rPr lang="en-US" sz="1100" dirty="0">
                <a:solidFill>
                  <a:srgbClr val="384653"/>
                </a:solidFill>
                <a:latin typeface="Montserrat" pitchFamily="34" charset="0"/>
                <a:ea typeface="Montserrat" pitchFamily="34" charset="-122"/>
                <a:cs typeface="Montserrat" pitchFamily="34" charset="-120"/>
              </a:rPr>
              <a:t>Crear los nuevos módulos del sistema en la tienda "La Frontera del Sabor C.G." y realizar pruebas de funcionamiento para garantizar su correcta operación.</a:t>
            </a:r>
            <a:endParaRPr lang="en-US" sz="1100" dirty="0"/>
          </a:p>
        </p:txBody>
      </p:sp>
      <p:sp>
        <p:nvSpPr>
          <p:cNvPr id="25" name="Text 23"/>
          <p:cNvSpPr/>
          <p:nvPr/>
        </p:nvSpPr>
        <p:spPr>
          <a:xfrm>
            <a:off x="3419356" y="5313998"/>
            <a:ext cx="2402205" cy="684371"/>
          </a:xfrm>
          <a:prstGeom prst="rect">
            <a:avLst/>
          </a:prstGeom>
          <a:noFill/>
          <a:ln/>
        </p:spPr>
        <p:txBody>
          <a:bodyPr wrap="square" lIns="0" tIns="0" rIns="0" bIns="0" rtlCol="0" anchor="t"/>
          <a:lstStyle/>
          <a:p>
            <a:pPr marL="0" indent="0" algn="l">
              <a:lnSpc>
                <a:spcPts val="1750"/>
              </a:lnSpc>
              <a:buNone/>
            </a:pPr>
            <a:r>
              <a:rPr lang="en-US" sz="1100" dirty="0">
                <a:solidFill>
                  <a:srgbClr val="384653"/>
                </a:solidFill>
                <a:latin typeface="Montserrat" pitchFamily="34" charset="0"/>
                <a:ea typeface="Montserrat" pitchFamily="34" charset="-122"/>
                <a:cs typeface="Montserrat" pitchFamily="34" charset="-120"/>
              </a:rPr>
              <a:t>Realizamos una serie de pruebas para poder comprobar la funcionalidad del sistema.</a:t>
            </a:r>
            <a:endParaRPr lang="en-US" sz="1100" dirty="0"/>
          </a:p>
        </p:txBody>
      </p:sp>
      <p:sp>
        <p:nvSpPr>
          <p:cNvPr id="26" name="Text 24"/>
          <p:cNvSpPr/>
          <p:nvPr/>
        </p:nvSpPr>
        <p:spPr>
          <a:xfrm>
            <a:off x="6114217" y="5313998"/>
            <a:ext cx="2402205" cy="228124"/>
          </a:xfrm>
          <a:prstGeom prst="rect">
            <a:avLst/>
          </a:prstGeom>
          <a:noFill/>
          <a:ln/>
        </p:spPr>
        <p:txBody>
          <a:bodyPr wrap="none" lIns="0" tIns="0" rIns="0" bIns="0" rtlCol="0" anchor="t"/>
          <a:lstStyle/>
          <a:p>
            <a:pPr marL="342900" indent="-342900" algn="l">
              <a:lnSpc>
                <a:spcPts val="1750"/>
              </a:lnSpc>
              <a:buSzPct val="100000"/>
              <a:buChar char="•"/>
            </a:pPr>
            <a:r>
              <a:rPr lang="en-US" sz="1100" dirty="0">
                <a:solidFill>
                  <a:srgbClr val="384653"/>
                </a:solidFill>
                <a:latin typeface="Montserrat" pitchFamily="34" charset="0"/>
                <a:ea typeface="Montserrat" pitchFamily="34" charset="-122"/>
                <a:cs typeface="Montserrat" pitchFamily="34" charset="-120"/>
              </a:rPr>
              <a:t>Computadoras.</a:t>
            </a:r>
            <a:endParaRPr lang="en-US" sz="1100" dirty="0"/>
          </a:p>
        </p:txBody>
      </p:sp>
      <p:sp>
        <p:nvSpPr>
          <p:cNvPr id="27" name="Text 25"/>
          <p:cNvSpPr/>
          <p:nvPr/>
        </p:nvSpPr>
        <p:spPr>
          <a:xfrm>
            <a:off x="8809077" y="5313998"/>
            <a:ext cx="2402205" cy="228124"/>
          </a:xfrm>
          <a:prstGeom prst="rect">
            <a:avLst/>
          </a:prstGeom>
          <a:noFill/>
          <a:ln/>
        </p:spPr>
        <p:txBody>
          <a:bodyPr wrap="none" lIns="0" tIns="0" rIns="0" bIns="0" rtlCol="0" anchor="t"/>
          <a:lstStyle/>
          <a:p>
            <a:pPr marL="342900" indent="-342900" algn="l">
              <a:lnSpc>
                <a:spcPts val="1750"/>
              </a:lnSpc>
              <a:buSzPct val="100000"/>
              <a:buChar char="•"/>
            </a:pPr>
            <a:r>
              <a:rPr lang="en-US" sz="1100" dirty="0">
                <a:solidFill>
                  <a:srgbClr val="384653"/>
                </a:solidFill>
                <a:latin typeface="Montserrat" pitchFamily="34" charset="0"/>
                <a:ea typeface="Montserrat" pitchFamily="34" charset="-122"/>
                <a:cs typeface="Montserrat" pitchFamily="34" charset="-120"/>
              </a:rPr>
              <a:t>15 de septiembre de 2025.</a:t>
            </a:r>
            <a:endParaRPr lang="en-US" sz="1100" dirty="0"/>
          </a:p>
        </p:txBody>
      </p:sp>
      <p:sp>
        <p:nvSpPr>
          <p:cNvPr id="28" name="Text 26"/>
          <p:cNvSpPr/>
          <p:nvPr/>
        </p:nvSpPr>
        <p:spPr>
          <a:xfrm>
            <a:off x="8809077" y="5584865"/>
            <a:ext cx="2402205" cy="228124"/>
          </a:xfrm>
          <a:prstGeom prst="rect">
            <a:avLst/>
          </a:prstGeom>
          <a:noFill/>
          <a:ln/>
        </p:spPr>
        <p:txBody>
          <a:bodyPr wrap="none" lIns="0" tIns="0" rIns="0" bIns="0" rtlCol="0" anchor="t"/>
          <a:lstStyle/>
          <a:p>
            <a:pPr marL="342900" indent="-342900" algn="l">
              <a:lnSpc>
                <a:spcPts val="1750"/>
              </a:lnSpc>
              <a:buSzPct val="100000"/>
              <a:buChar char="•"/>
            </a:pPr>
            <a:r>
              <a:rPr lang="en-US" sz="1100" dirty="0">
                <a:solidFill>
                  <a:srgbClr val="384653"/>
                </a:solidFill>
                <a:latin typeface="Montserrat" pitchFamily="34" charset="0"/>
                <a:ea typeface="Montserrat" pitchFamily="34" charset="-122"/>
                <a:cs typeface="Montserrat" pitchFamily="34" charset="-120"/>
              </a:rPr>
              <a:t>26 de octubre de 2025.</a:t>
            </a:r>
            <a:endParaRPr lang="en-US" sz="1100" dirty="0"/>
          </a:p>
        </p:txBody>
      </p:sp>
      <p:sp>
        <p:nvSpPr>
          <p:cNvPr id="29" name="Text 27"/>
          <p:cNvSpPr/>
          <p:nvPr/>
        </p:nvSpPr>
        <p:spPr>
          <a:xfrm>
            <a:off x="8809077" y="5855732"/>
            <a:ext cx="2402205" cy="228124"/>
          </a:xfrm>
          <a:prstGeom prst="rect">
            <a:avLst/>
          </a:prstGeom>
          <a:noFill/>
          <a:ln/>
        </p:spPr>
        <p:txBody>
          <a:bodyPr wrap="none" lIns="0" tIns="0" rIns="0" bIns="0" rtlCol="0" anchor="t"/>
          <a:lstStyle/>
          <a:p>
            <a:pPr marL="342900" indent="-342900" algn="l">
              <a:lnSpc>
                <a:spcPts val="1750"/>
              </a:lnSpc>
              <a:buSzPct val="100000"/>
              <a:buChar char="•"/>
            </a:pPr>
            <a:r>
              <a:rPr lang="en-US" sz="1100" dirty="0">
                <a:solidFill>
                  <a:srgbClr val="384653"/>
                </a:solidFill>
                <a:latin typeface="Montserrat" pitchFamily="34" charset="0"/>
                <a:ea typeface="Montserrat" pitchFamily="34" charset="-122"/>
                <a:cs typeface="Montserrat" pitchFamily="34" charset="-120"/>
              </a:rPr>
              <a:t>4 de noviembre de 2025.</a:t>
            </a:r>
            <a:endParaRPr lang="en-US" sz="1100" dirty="0"/>
          </a:p>
        </p:txBody>
      </p:sp>
      <p:sp>
        <p:nvSpPr>
          <p:cNvPr id="30" name="Text 28"/>
          <p:cNvSpPr/>
          <p:nvPr/>
        </p:nvSpPr>
        <p:spPr>
          <a:xfrm>
            <a:off x="11503938" y="5313998"/>
            <a:ext cx="2406015" cy="456248"/>
          </a:xfrm>
          <a:prstGeom prst="rect">
            <a:avLst/>
          </a:prstGeom>
          <a:noFill/>
          <a:ln/>
        </p:spPr>
        <p:txBody>
          <a:bodyPr wrap="square" lIns="0" tIns="0" rIns="0" bIns="0" rtlCol="0" anchor="t"/>
          <a:lstStyle/>
          <a:p>
            <a:pPr marL="0" indent="0" algn="l">
              <a:lnSpc>
                <a:spcPts val="1750"/>
              </a:lnSpc>
              <a:buNone/>
            </a:pPr>
            <a:r>
              <a:rPr lang="en-US" sz="1100" dirty="0">
                <a:solidFill>
                  <a:srgbClr val="384653"/>
                </a:solidFill>
                <a:latin typeface="Montserrat" pitchFamily="34" charset="0"/>
                <a:ea typeface="Montserrat" pitchFamily="34" charset="-122"/>
                <a:cs typeface="Montserrat" pitchFamily="34" charset="-120"/>
              </a:rPr>
              <a:t>Eddy Pacheco, Frankelbert Bolívar, Juan Ruiz.</a:t>
            </a:r>
            <a:endParaRPr lang="en-US" sz="1100" dirty="0"/>
          </a:p>
        </p:txBody>
      </p:sp>
      <p:sp>
        <p:nvSpPr>
          <p:cNvPr id="31" name="Shape 29"/>
          <p:cNvSpPr/>
          <p:nvPr/>
        </p:nvSpPr>
        <p:spPr>
          <a:xfrm>
            <a:off x="577929" y="6547723"/>
            <a:ext cx="13474541" cy="1326833"/>
          </a:xfrm>
          <a:prstGeom prst="rect">
            <a:avLst/>
          </a:prstGeom>
          <a:solidFill>
            <a:srgbClr val="000000">
              <a:alpha val="4000"/>
            </a:srgbClr>
          </a:solidFill>
          <a:ln/>
        </p:spPr>
      </p:sp>
      <p:sp>
        <p:nvSpPr>
          <p:cNvPr id="32" name="Text 30"/>
          <p:cNvSpPr/>
          <p:nvPr/>
        </p:nvSpPr>
        <p:spPr>
          <a:xfrm>
            <a:off x="720685" y="6640830"/>
            <a:ext cx="2406015" cy="1140619"/>
          </a:xfrm>
          <a:prstGeom prst="rect">
            <a:avLst/>
          </a:prstGeom>
          <a:noFill/>
          <a:ln/>
        </p:spPr>
        <p:txBody>
          <a:bodyPr wrap="square" lIns="0" tIns="0" rIns="0" bIns="0" rtlCol="0" anchor="t"/>
          <a:lstStyle/>
          <a:p>
            <a:pPr marL="0" indent="0" algn="l">
              <a:lnSpc>
                <a:spcPts val="1750"/>
              </a:lnSpc>
              <a:buNone/>
            </a:pPr>
            <a:r>
              <a:rPr lang="en-US" sz="1100" dirty="0">
                <a:solidFill>
                  <a:srgbClr val="384653"/>
                </a:solidFill>
                <a:latin typeface="Montserrat" pitchFamily="34" charset="0"/>
                <a:ea typeface="Montserrat" pitchFamily="34" charset="-122"/>
                <a:cs typeface="Montserrat" pitchFamily="34" charset="-120"/>
              </a:rPr>
              <a:t>Implementar las actualizaciones y ver el impacto del sistema en la eficiencia operativa, la reducción de errores y la satisfacción del cliente.</a:t>
            </a:r>
            <a:endParaRPr lang="en-US" sz="1100" dirty="0"/>
          </a:p>
        </p:txBody>
      </p:sp>
      <p:sp>
        <p:nvSpPr>
          <p:cNvPr id="33" name="Text 31"/>
          <p:cNvSpPr/>
          <p:nvPr/>
        </p:nvSpPr>
        <p:spPr>
          <a:xfrm>
            <a:off x="3419356" y="6640830"/>
            <a:ext cx="2402205" cy="912495"/>
          </a:xfrm>
          <a:prstGeom prst="rect">
            <a:avLst/>
          </a:prstGeom>
          <a:noFill/>
          <a:ln/>
        </p:spPr>
        <p:txBody>
          <a:bodyPr wrap="square" lIns="0" tIns="0" rIns="0" bIns="0" rtlCol="0" anchor="t"/>
          <a:lstStyle/>
          <a:p>
            <a:pPr marL="0" indent="0" algn="l">
              <a:lnSpc>
                <a:spcPts val="1750"/>
              </a:lnSpc>
              <a:buNone/>
            </a:pPr>
            <a:r>
              <a:rPr lang="en-US" sz="1100" dirty="0">
                <a:solidFill>
                  <a:srgbClr val="384653"/>
                </a:solidFill>
                <a:latin typeface="Montserrat" pitchFamily="34" charset="0"/>
                <a:ea typeface="Montserrat" pitchFamily="34" charset="-122"/>
                <a:cs typeface="Montserrat" pitchFamily="34" charset="-120"/>
              </a:rPr>
              <a:t>Realizar un análisis en el mercado laboral para poder evaluar mejor el comportamiento.</a:t>
            </a:r>
            <a:endParaRPr lang="en-US" sz="1100" dirty="0"/>
          </a:p>
        </p:txBody>
      </p:sp>
      <p:sp>
        <p:nvSpPr>
          <p:cNvPr id="34" name="Text 32"/>
          <p:cNvSpPr/>
          <p:nvPr/>
        </p:nvSpPr>
        <p:spPr>
          <a:xfrm>
            <a:off x="6114217" y="6640830"/>
            <a:ext cx="2402205" cy="684371"/>
          </a:xfrm>
          <a:prstGeom prst="rect">
            <a:avLst/>
          </a:prstGeom>
          <a:noFill/>
          <a:ln/>
        </p:spPr>
        <p:txBody>
          <a:bodyPr wrap="square" lIns="0" tIns="0" rIns="0" bIns="0" rtlCol="0" anchor="t"/>
          <a:lstStyle/>
          <a:p>
            <a:pPr marL="342900" indent="-342900" algn="l">
              <a:lnSpc>
                <a:spcPts val="1750"/>
              </a:lnSpc>
              <a:buSzPct val="100000"/>
              <a:buChar char="•"/>
            </a:pPr>
            <a:r>
              <a:rPr lang="en-US" sz="1100" dirty="0">
                <a:solidFill>
                  <a:srgbClr val="384653"/>
                </a:solidFill>
                <a:latin typeface="Montserrat" pitchFamily="34" charset="0"/>
                <a:ea typeface="Montserrat" pitchFamily="34" charset="-122"/>
                <a:cs typeface="Montserrat" pitchFamily="34" charset="-120"/>
              </a:rPr>
              <a:t>Libros para poder realizar la implementación y el mejoramiento del sistema.</a:t>
            </a:r>
            <a:endParaRPr lang="en-US" sz="1100" dirty="0"/>
          </a:p>
        </p:txBody>
      </p:sp>
      <p:sp>
        <p:nvSpPr>
          <p:cNvPr id="35" name="Text 33"/>
          <p:cNvSpPr/>
          <p:nvPr/>
        </p:nvSpPr>
        <p:spPr>
          <a:xfrm>
            <a:off x="8809077" y="6640830"/>
            <a:ext cx="2402205" cy="228124"/>
          </a:xfrm>
          <a:prstGeom prst="rect">
            <a:avLst/>
          </a:prstGeom>
          <a:noFill/>
          <a:ln/>
        </p:spPr>
        <p:txBody>
          <a:bodyPr wrap="none" lIns="0" tIns="0" rIns="0" bIns="0" rtlCol="0" anchor="t"/>
          <a:lstStyle/>
          <a:p>
            <a:pPr marL="342900" indent="-342900" algn="l">
              <a:lnSpc>
                <a:spcPts val="1750"/>
              </a:lnSpc>
              <a:buSzPct val="100000"/>
              <a:buChar char="•"/>
            </a:pPr>
            <a:r>
              <a:rPr lang="en-US" sz="1100" dirty="0">
                <a:solidFill>
                  <a:srgbClr val="384653"/>
                </a:solidFill>
                <a:latin typeface="Montserrat" pitchFamily="34" charset="0"/>
                <a:ea typeface="Montserrat" pitchFamily="34" charset="-122"/>
                <a:cs typeface="Montserrat" pitchFamily="34" charset="-120"/>
              </a:rPr>
              <a:t>23 de noviembre de 2025.</a:t>
            </a:r>
            <a:endParaRPr lang="en-US" sz="1100" dirty="0"/>
          </a:p>
        </p:txBody>
      </p:sp>
      <p:sp>
        <p:nvSpPr>
          <p:cNvPr id="36" name="Text 34"/>
          <p:cNvSpPr/>
          <p:nvPr/>
        </p:nvSpPr>
        <p:spPr>
          <a:xfrm>
            <a:off x="11503938" y="6640830"/>
            <a:ext cx="2406015" cy="456248"/>
          </a:xfrm>
          <a:prstGeom prst="rect">
            <a:avLst/>
          </a:prstGeom>
          <a:noFill/>
          <a:ln/>
        </p:spPr>
        <p:txBody>
          <a:bodyPr wrap="square" lIns="0" tIns="0" rIns="0" bIns="0" rtlCol="0" anchor="t"/>
          <a:lstStyle/>
          <a:p>
            <a:pPr marL="0" indent="0" algn="l">
              <a:lnSpc>
                <a:spcPts val="1750"/>
              </a:lnSpc>
              <a:buNone/>
            </a:pPr>
            <a:r>
              <a:rPr lang="en-US" sz="1100" dirty="0">
                <a:solidFill>
                  <a:srgbClr val="384653"/>
                </a:solidFill>
                <a:latin typeface="Montserrat" pitchFamily="34" charset="0"/>
                <a:ea typeface="Montserrat" pitchFamily="34" charset="-122"/>
                <a:cs typeface="Montserrat" pitchFamily="34" charset="-120"/>
              </a:rPr>
              <a:t>Eddy Pacheco, Frankelbert Bolívar, Juan Ruiz.</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58309" y="600432"/>
            <a:ext cx="4988838" cy="623530"/>
          </a:xfrm>
          <a:prstGeom prst="rect">
            <a:avLst/>
          </a:prstGeom>
          <a:noFill/>
          <a:ln/>
        </p:spPr>
        <p:txBody>
          <a:bodyPr wrap="none" lIns="0" tIns="0" rIns="0" bIns="0" rtlCol="0" anchor="t"/>
          <a:lstStyle/>
          <a:p>
            <a:pPr marL="0" indent="0" algn="l">
              <a:lnSpc>
                <a:spcPts val="4900"/>
              </a:lnSpc>
              <a:buNone/>
            </a:pPr>
            <a:r>
              <a:rPr lang="en-US" sz="3900" b="1" dirty="0">
                <a:solidFill>
                  <a:srgbClr val="2E3C4E"/>
                </a:solidFill>
                <a:latin typeface="Barlow Bold" pitchFamily="34" charset="0"/>
                <a:ea typeface="Barlow Bold" pitchFamily="34" charset="-122"/>
                <a:cs typeface="Barlow Bold" pitchFamily="34" charset="-120"/>
              </a:rPr>
              <a:t>Conclusión</a:t>
            </a:r>
            <a:endParaRPr lang="en-US" sz="3900" dirty="0"/>
          </a:p>
        </p:txBody>
      </p:sp>
      <p:sp>
        <p:nvSpPr>
          <p:cNvPr id="3" name="Text 1"/>
          <p:cNvSpPr/>
          <p:nvPr/>
        </p:nvSpPr>
        <p:spPr>
          <a:xfrm>
            <a:off x="758309" y="1603058"/>
            <a:ext cx="13113782" cy="1516261"/>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El proyecto AdminPyme ha desarrollado e implementado con éxito un sistema de gestión adaptado a las necesidades específicas de la microempresa "La Frontera del Sabor C.G.". Se ha logrado una optimización significativa en el registro de información, la gestión de inventarios y el control de créditos a clientes, sentando las bases para una mayor eficiencia operativa y una toma de decisiones más informada. Este sistema no solo reduce errores manuales, sino que también promueve la inclusión digital y financiera, fortaleciendo la competitividad y sostenibilidad del negocio.</a:t>
            </a:r>
            <a:endParaRPr lang="en-US" sz="1450" dirty="0"/>
          </a:p>
        </p:txBody>
      </p:sp>
      <p:sp>
        <p:nvSpPr>
          <p:cNvPr id="4" name="Shape 2"/>
          <p:cNvSpPr/>
          <p:nvPr/>
        </p:nvSpPr>
        <p:spPr>
          <a:xfrm>
            <a:off x="758309" y="3427341"/>
            <a:ext cx="13113782" cy="31313"/>
          </a:xfrm>
          <a:prstGeom prst="rect">
            <a:avLst/>
          </a:prstGeom>
          <a:solidFill>
            <a:srgbClr val="384653">
              <a:alpha val="50000"/>
            </a:srgbClr>
          </a:solidFill>
          <a:ln/>
        </p:spPr>
      </p:sp>
      <p:sp>
        <p:nvSpPr>
          <p:cNvPr id="5" name="Text 3"/>
          <p:cNvSpPr/>
          <p:nvPr/>
        </p:nvSpPr>
        <p:spPr>
          <a:xfrm>
            <a:off x="758309" y="3742968"/>
            <a:ext cx="3991094" cy="498872"/>
          </a:xfrm>
          <a:prstGeom prst="rect">
            <a:avLst/>
          </a:prstGeom>
          <a:noFill/>
          <a:ln/>
        </p:spPr>
        <p:txBody>
          <a:bodyPr wrap="none" lIns="0" tIns="0" rIns="0" bIns="0" rtlCol="0" anchor="t"/>
          <a:lstStyle/>
          <a:p>
            <a:pPr marL="0" indent="0" algn="l">
              <a:lnSpc>
                <a:spcPts val="3900"/>
              </a:lnSpc>
              <a:buNone/>
            </a:pPr>
            <a:r>
              <a:rPr lang="en-US" sz="3100" b="1" dirty="0">
                <a:solidFill>
                  <a:srgbClr val="2E3C4E"/>
                </a:solidFill>
                <a:latin typeface="Barlow Bold" pitchFamily="34" charset="0"/>
                <a:ea typeface="Barlow Bold" pitchFamily="34" charset="-122"/>
                <a:cs typeface="Barlow Bold" pitchFamily="34" charset="-120"/>
              </a:rPr>
              <a:t>Recomendaciones</a:t>
            </a:r>
            <a:endParaRPr lang="en-US" sz="3100" dirty="0"/>
          </a:p>
        </p:txBody>
      </p:sp>
      <p:sp>
        <p:nvSpPr>
          <p:cNvPr id="6" name="Shape 4"/>
          <p:cNvSpPr/>
          <p:nvPr/>
        </p:nvSpPr>
        <p:spPr>
          <a:xfrm>
            <a:off x="758309" y="4526161"/>
            <a:ext cx="6462117" cy="1456730"/>
          </a:xfrm>
          <a:prstGeom prst="roundRect">
            <a:avLst>
              <a:gd name="adj" fmla="val 7532"/>
            </a:avLst>
          </a:prstGeom>
          <a:solidFill>
            <a:srgbClr val="FFFFFF"/>
          </a:solidFill>
          <a:ln w="22860">
            <a:solidFill>
              <a:srgbClr val="BACFDD"/>
            </a:solidFill>
            <a:prstDash val="solid"/>
          </a:ln>
        </p:spPr>
      </p:sp>
      <p:pic>
        <p:nvPicPr>
          <p:cNvPr id="7" name="Image 0" descr="preencoded.png"/>
          <p:cNvPicPr>
            <a:picLocks noChangeAspect="1"/>
          </p:cNvPicPr>
          <p:nvPr/>
        </p:nvPicPr>
        <p:blipFill>
          <a:blip r:embed="rId3"/>
          <a:stretch>
            <a:fillRect/>
          </a:stretch>
        </p:blipFill>
        <p:spPr>
          <a:xfrm>
            <a:off x="735449" y="4526161"/>
            <a:ext cx="91440" cy="1456730"/>
          </a:xfrm>
          <a:prstGeom prst="rect">
            <a:avLst/>
          </a:prstGeom>
        </p:spPr>
      </p:pic>
      <p:sp>
        <p:nvSpPr>
          <p:cNvPr id="8" name="Text 5"/>
          <p:cNvSpPr/>
          <p:nvPr/>
        </p:nvSpPr>
        <p:spPr>
          <a:xfrm>
            <a:off x="1039297" y="4738568"/>
            <a:ext cx="3332678"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Barlow Bold" pitchFamily="34" charset="0"/>
                <a:ea typeface="Barlow Bold" pitchFamily="34" charset="-122"/>
                <a:cs typeface="Barlow Bold" pitchFamily="34" charset="-120"/>
              </a:rPr>
              <a:t>Expansión de Funcionalidades</a:t>
            </a:r>
            <a:endParaRPr lang="en-US" sz="1950" dirty="0"/>
          </a:p>
        </p:txBody>
      </p:sp>
      <p:sp>
        <p:nvSpPr>
          <p:cNvPr id="9" name="Text 6"/>
          <p:cNvSpPr/>
          <p:nvPr/>
        </p:nvSpPr>
        <p:spPr>
          <a:xfrm>
            <a:off x="1039297" y="5163979"/>
            <a:ext cx="5968722" cy="606504"/>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Integrar módulos de contabilidad básica y reportes financieros para una visión integral del negocio.</a:t>
            </a:r>
            <a:endParaRPr lang="en-US" sz="1450" dirty="0"/>
          </a:p>
        </p:txBody>
      </p:sp>
      <p:sp>
        <p:nvSpPr>
          <p:cNvPr id="10" name="Shape 7"/>
          <p:cNvSpPr/>
          <p:nvPr/>
        </p:nvSpPr>
        <p:spPr>
          <a:xfrm>
            <a:off x="7409974" y="4526161"/>
            <a:ext cx="6462117" cy="1456730"/>
          </a:xfrm>
          <a:prstGeom prst="roundRect">
            <a:avLst>
              <a:gd name="adj" fmla="val 7532"/>
            </a:avLst>
          </a:prstGeom>
          <a:solidFill>
            <a:srgbClr val="FFFFFF"/>
          </a:solidFill>
          <a:ln w="22860">
            <a:solidFill>
              <a:srgbClr val="BACFDD"/>
            </a:solidFill>
            <a:prstDash val="solid"/>
          </a:ln>
        </p:spPr>
      </p:sp>
      <p:pic>
        <p:nvPicPr>
          <p:cNvPr id="11" name="Image 1" descr="preencoded.png"/>
          <p:cNvPicPr>
            <a:picLocks noChangeAspect="1"/>
          </p:cNvPicPr>
          <p:nvPr/>
        </p:nvPicPr>
        <p:blipFill>
          <a:blip r:embed="rId3"/>
          <a:stretch>
            <a:fillRect/>
          </a:stretch>
        </p:blipFill>
        <p:spPr>
          <a:xfrm>
            <a:off x="7387114" y="4526161"/>
            <a:ext cx="91440" cy="1456730"/>
          </a:xfrm>
          <a:prstGeom prst="rect">
            <a:avLst/>
          </a:prstGeom>
        </p:spPr>
      </p:pic>
      <p:sp>
        <p:nvSpPr>
          <p:cNvPr id="12" name="Text 8"/>
          <p:cNvSpPr/>
          <p:nvPr/>
        </p:nvSpPr>
        <p:spPr>
          <a:xfrm>
            <a:off x="7690961" y="4738568"/>
            <a:ext cx="2952750"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Barlow Bold" pitchFamily="34" charset="0"/>
                <a:ea typeface="Barlow Bold" pitchFamily="34" charset="-122"/>
                <a:cs typeface="Barlow Bold" pitchFamily="34" charset="-120"/>
              </a:rPr>
              <a:t>Desarrollo de Versión Móvil</a:t>
            </a:r>
            <a:endParaRPr lang="en-US" sz="1950" dirty="0"/>
          </a:p>
        </p:txBody>
      </p:sp>
      <p:sp>
        <p:nvSpPr>
          <p:cNvPr id="13" name="Text 9"/>
          <p:cNvSpPr/>
          <p:nvPr/>
        </p:nvSpPr>
        <p:spPr>
          <a:xfrm>
            <a:off x="7690961" y="5163979"/>
            <a:ext cx="5968722" cy="606504"/>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Crear una aplicación complementaria que permita la gestión de inventario y ventas desde dispositivos móviles.</a:t>
            </a:r>
            <a:endParaRPr lang="en-US" sz="1450" dirty="0"/>
          </a:p>
        </p:txBody>
      </p:sp>
      <p:sp>
        <p:nvSpPr>
          <p:cNvPr id="14" name="Shape 10"/>
          <p:cNvSpPr/>
          <p:nvPr/>
        </p:nvSpPr>
        <p:spPr>
          <a:xfrm>
            <a:off x="758309" y="6172438"/>
            <a:ext cx="6462117" cy="1456730"/>
          </a:xfrm>
          <a:prstGeom prst="roundRect">
            <a:avLst>
              <a:gd name="adj" fmla="val 7532"/>
            </a:avLst>
          </a:prstGeom>
          <a:solidFill>
            <a:srgbClr val="FFFFFF"/>
          </a:solidFill>
          <a:ln w="22860">
            <a:solidFill>
              <a:srgbClr val="BACFDD"/>
            </a:solidFill>
            <a:prstDash val="solid"/>
          </a:ln>
        </p:spPr>
      </p:sp>
      <p:pic>
        <p:nvPicPr>
          <p:cNvPr id="15" name="Image 2" descr="preencoded.png"/>
          <p:cNvPicPr>
            <a:picLocks noChangeAspect="1"/>
          </p:cNvPicPr>
          <p:nvPr/>
        </p:nvPicPr>
        <p:blipFill>
          <a:blip r:embed="rId3"/>
          <a:stretch>
            <a:fillRect/>
          </a:stretch>
        </p:blipFill>
        <p:spPr>
          <a:xfrm>
            <a:off x="735449" y="6172438"/>
            <a:ext cx="91440" cy="1456730"/>
          </a:xfrm>
          <a:prstGeom prst="rect">
            <a:avLst/>
          </a:prstGeom>
        </p:spPr>
      </p:pic>
      <p:sp>
        <p:nvSpPr>
          <p:cNvPr id="16" name="Text 11"/>
          <p:cNvSpPr/>
          <p:nvPr/>
        </p:nvSpPr>
        <p:spPr>
          <a:xfrm>
            <a:off x="1039297" y="6384846"/>
            <a:ext cx="3614618"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Barlow Bold" pitchFamily="34" charset="0"/>
                <a:ea typeface="Barlow Bold" pitchFamily="34" charset="-122"/>
                <a:cs typeface="Barlow Bold" pitchFamily="34" charset="-120"/>
              </a:rPr>
              <a:t>Capacitación y Soporte Continuo</a:t>
            </a:r>
            <a:endParaRPr lang="en-US" sz="1950" dirty="0"/>
          </a:p>
        </p:txBody>
      </p:sp>
      <p:sp>
        <p:nvSpPr>
          <p:cNvPr id="17" name="Text 12"/>
          <p:cNvSpPr/>
          <p:nvPr/>
        </p:nvSpPr>
        <p:spPr>
          <a:xfrm>
            <a:off x="1039297" y="6810256"/>
            <a:ext cx="5968722" cy="606504"/>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Implementar programas de formación recurrentes y un canal de soporte para maximizar la adopción y el uso del sistema.</a:t>
            </a:r>
            <a:endParaRPr lang="en-US" sz="1450" dirty="0"/>
          </a:p>
        </p:txBody>
      </p:sp>
      <p:sp>
        <p:nvSpPr>
          <p:cNvPr id="18" name="Shape 13"/>
          <p:cNvSpPr/>
          <p:nvPr/>
        </p:nvSpPr>
        <p:spPr>
          <a:xfrm>
            <a:off x="7409974" y="6172438"/>
            <a:ext cx="6462117" cy="1456730"/>
          </a:xfrm>
          <a:prstGeom prst="roundRect">
            <a:avLst>
              <a:gd name="adj" fmla="val 7532"/>
            </a:avLst>
          </a:prstGeom>
          <a:solidFill>
            <a:srgbClr val="FFFFFF"/>
          </a:solidFill>
          <a:ln w="22860">
            <a:solidFill>
              <a:srgbClr val="BACFDD"/>
            </a:solidFill>
            <a:prstDash val="solid"/>
          </a:ln>
        </p:spPr>
      </p:sp>
      <p:pic>
        <p:nvPicPr>
          <p:cNvPr id="19" name="Image 3" descr="preencoded.png"/>
          <p:cNvPicPr>
            <a:picLocks noChangeAspect="1"/>
          </p:cNvPicPr>
          <p:nvPr/>
        </p:nvPicPr>
        <p:blipFill>
          <a:blip r:embed="rId3"/>
          <a:stretch>
            <a:fillRect/>
          </a:stretch>
        </p:blipFill>
        <p:spPr>
          <a:xfrm>
            <a:off x="7387114" y="6172438"/>
            <a:ext cx="91440" cy="1456730"/>
          </a:xfrm>
          <a:prstGeom prst="rect">
            <a:avLst/>
          </a:prstGeom>
        </p:spPr>
      </p:pic>
      <p:sp>
        <p:nvSpPr>
          <p:cNvPr id="20" name="Text 14"/>
          <p:cNvSpPr/>
          <p:nvPr/>
        </p:nvSpPr>
        <p:spPr>
          <a:xfrm>
            <a:off x="7690961" y="6384846"/>
            <a:ext cx="3398520"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Barlow Bold" pitchFamily="34" charset="0"/>
                <a:ea typeface="Barlow Bold" pitchFamily="34" charset="-122"/>
                <a:cs typeface="Barlow Bold" pitchFamily="34" charset="-120"/>
              </a:rPr>
              <a:t>Seguridad y Respaldo de Datos</a:t>
            </a:r>
            <a:endParaRPr lang="en-US" sz="1950" dirty="0"/>
          </a:p>
        </p:txBody>
      </p:sp>
      <p:sp>
        <p:nvSpPr>
          <p:cNvPr id="21" name="Text 15"/>
          <p:cNvSpPr/>
          <p:nvPr/>
        </p:nvSpPr>
        <p:spPr>
          <a:xfrm>
            <a:off x="7690961" y="6810256"/>
            <a:ext cx="5968722" cy="606504"/>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Establecer protocolos robustos de seguridad y copias de respaldo automáticas para proteger la información crítica.</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6835444-A74B-6ECD-18EB-A55C50DB179B}"/>
              </a:ext>
            </a:extLst>
          </p:cNvPr>
          <p:cNvSpPr>
            <a:spLocks noGrp="1"/>
          </p:cNvSpPr>
          <p:nvPr>
            <p:ph type="title"/>
          </p:nvPr>
        </p:nvSpPr>
        <p:spPr/>
        <p:txBody>
          <a:bodyPr anchor="ctr"/>
          <a:lstStyle/>
          <a:p>
            <a:pPr algn="ctr"/>
            <a:r>
              <a:rPr lang="es-ES" dirty="0"/>
              <a:t>Anexos</a:t>
            </a:r>
            <a:endParaRPr lang="es-VE" dirty="0"/>
          </a:p>
        </p:txBody>
      </p:sp>
      <p:pic>
        <p:nvPicPr>
          <p:cNvPr id="4" name="Imagen 3">
            <a:extLst>
              <a:ext uri="{FF2B5EF4-FFF2-40B4-BE49-F238E27FC236}">
                <a16:creationId xmlns:a16="http://schemas.microsoft.com/office/drawing/2014/main" id="{A13E5613-AAB0-2BF3-345D-BAB0B3103414}"/>
              </a:ext>
            </a:extLst>
          </p:cNvPr>
          <p:cNvPicPr>
            <a:picLocks noChangeAspect="1"/>
          </p:cNvPicPr>
          <p:nvPr/>
        </p:nvPicPr>
        <p:blipFill>
          <a:blip r:embed="rId2"/>
          <a:srcRect/>
          <a:stretch/>
        </p:blipFill>
        <p:spPr>
          <a:xfrm>
            <a:off x="5462262" y="2029597"/>
            <a:ext cx="6768233" cy="6218130"/>
          </a:xfrm>
          <a:prstGeom prst="rect">
            <a:avLst/>
          </a:prstGeom>
        </p:spPr>
      </p:pic>
      <p:sp>
        <p:nvSpPr>
          <p:cNvPr id="5" name="Título 1">
            <a:extLst>
              <a:ext uri="{FF2B5EF4-FFF2-40B4-BE49-F238E27FC236}">
                <a16:creationId xmlns:a16="http://schemas.microsoft.com/office/drawing/2014/main" id="{511F3CE9-741E-A2D5-6FEF-56DA029E0504}"/>
              </a:ext>
            </a:extLst>
          </p:cNvPr>
          <p:cNvSpPr txBox="1">
            <a:spLocks/>
          </p:cNvSpPr>
          <p:nvPr/>
        </p:nvSpPr>
        <p:spPr>
          <a:xfrm>
            <a:off x="0" y="3125585"/>
            <a:ext cx="5012379" cy="2119880"/>
          </a:xfrm>
          <a:prstGeom prst="rect">
            <a:avLst/>
          </a:prstGeom>
        </p:spPr>
        <p:txBody>
          <a:bodyPr vert="horz" lIns="91440" tIns="45720" rIns="91440" bIns="45720" rtlCol="0" anchor="ctr">
            <a:normAutofit lnSpcReduction="10000"/>
          </a:bodyPr>
          <a:lstStyle>
            <a:lvl1pPr algn="l" defTabSz="1097280" rtl="0" eaLnBrk="1" latinLnBrk="0" hangingPunct="1">
              <a:lnSpc>
                <a:spcPct val="90000"/>
              </a:lnSpc>
              <a:spcBef>
                <a:spcPct val="0"/>
              </a:spcBef>
              <a:buNone/>
              <a:defRPr sz="5280" kern="1200" spc="-60" baseline="0">
                <a:solidFill>
                  <a:schemeClr val="tx1"/>
                </a:solidFill>
                <a:latin typeface="+mj-lt"/>
                <a:ea typeface="+mj-ea"/>
                <a:cs typeface="+mj-cs"/>
              </a:defRPr>
            </a:lvl1pPr>
          </a:lstStyle>
          <a:p>
            <a:pPr algn="ctr"/>
            <a:r>
              <a:rPr lang="es-ES" dirty="0"/>
              <a:t>Diagrama</a:t>
            </a:r>
          </a:p>
          <a:p>
            <a:pPr algn="ctr"/>
            <a:r>
              <a:rPr lang="es-ES" dirty="0"/>
              <a:t>Caso de Uso</a:t>
            </a:r>
          </a:p>
          <a:p>
            <a:pPr algn="ctr"/>
            <a:r>
              <a:rPr lang="es-ES" dirty="0"/>
              <a:t>Sistema</a:t>
            </a:r>
            <a:endParaRPr lang="es-VE" dirty="0"/>
          </a:p>
        </p:txBody>
      </p:sp>
    </p:spTree>
    <p:extLst>
      <p:ext uri="{BB962C8B-B14F-4D97-AF65-F5344CB8AC3E}">
        <p14:creationId xmlns:p14="http://schemas.microsoft.com/office/powerpoint/2010/main" val="11558945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EB230C-A810-7FFA-3744-54696552FA23}"/>
              </a:ext>
            </a:extLst>
          </p:cNvPr>
          <p:cNvSpPr>
            <a:spLocks noGrp="1"/>
          </p:cNvSpPr>
          <p:nvPr>
            <p:ph type="title"/>
          </p:nvPr>
        </p:nvSpPr>
        <p:spPr>
          <a:xfrm>
            <a:off x="0" y="2824923"/>
            <a:ext cx="4804756" cy="1590674"/>
          </a:xfrm>
        </p:spPr>
        <p:txBody>
          <a:bodyPr anchor="ctr"/>
          <a:lstStyle/>
          <a:p>
            <a:pPr algn="ctr"/>
            <a:r>
              <a:rPr lang="es-ES" dirty="0"/>
              <a:t>Diagrama de Clase</a:t>
            </a:r>
            <a:endParaRPr lang="es-VE" dirty="0"/>
          </a:p>
        </p:txBody>
      </p:sp>
      <p:pic>
        <p:nvPicPr>
          <p:cNvPr id="4" name="Imagen 3">
            <a:extLst>
              <a:ext uri="{FF2B5EF4-FFF2-40B4-BE49-F238E27FC236}">
                <a16:creationId xmlns:a16="http://schemas.microsoft.com/office/drawing/2014/main" id="{0E81B8FA-8CFE-3951-A09D-7E9C96DD719D}"/>
              </a:ext>
            </a:extLst>
          </p:cNvPr>
          <p:cNvPicPr>
            <a:picLocks noChangeAspect="1"/>
          </p:cNvPicPr>
          <p:nvPr/>
        </p:nvPicPr>
        <p:blipFill>
          <a:blip r:embed="rId2"/>
          <a:stretch>
            <a:fillRect/>
          </a:stretch>
        </p:blipFill>
        <p:spPr>
          <a:xfrm>
            <a:off x="4987608" y="28800"/>
            <a:ext cx="8248870" cy="8172000"/>
          </a:xfrm>
          <a:prstGeom prst="rect">
            <a:avLst/>
          </a:prstGeom>
        </p:spPr>
      </p:pic>
    </p:spTree>
    <p:extLst>
      <p:ext uri="{BB962C8B-B14F-4D97-AF65-F5344CB8AC3E}">
        <p14:creationId xmlns:p14="http://schemas.microsoft.com/office/powerpoint/2010/main" val="16018428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4447D901-1119-5C4F-5C7D-FB3A8C6BBD3D}"/>
              </a:ext>
            </a:extLst>
          </p:cNvPr>
          <p:cNvPicPr>
            <a:picLocks noChangeAspect="1"/>
          </p:cNvPicPr>
          <p:nvPr/>
        </p:nvPicPr>
        <p:blipFill>
          <a:blip r:embed="rId2"/>
          <a:srcRect r="6722"/>
          <a:stretch/>
        </p:blipFill>
        <p:spPr>
          <a:xfrm>
            <a:off x="0" y="0"/>
            <a:ext cx="13646989" cy="8229600"/>
          </a:xfrm>
          <a:prstGeom prst="rect">
            <a:avLst/>
          </a:prstGeom>
        </p:spPr>
      </p:pic>
      <p:sp>
        <p:nvSpPr>
          <p:cNvPr id="2" name="Título 1">
            <a:extLst>
              <a:ext uri="{FF2B5EF4-FFF2-40B4-BE49-F238E27FC236}">
                <a16:creationId xmlns:a16="http://schemas.microsoft.com/office/drawing/2014/main" id="{79F1CDB6-D393-81DB-EEDB-388F58575974}"/>
              </a:ext>
            </a:extLst>
          </p:cNvPr>
          <p:cNvSpPr>
            <a:spLocks noGrp="1"/>
          </p:cNvSpPr>
          <p:nvPr>
            <p:ph type="title"/>
          </p:nvPr>
        </p:nvSpPr>
        <p:spPr>
          <a:xfrm>
            <a:off x="1514246" y="1510818"/>
            <a:ext cx="11631168" cy="1590674"/>
          </a:xfrm>
          <a:effectLst>
            <a:outerShdw blurRad="38100" dist="38100" dir="2700000" algn="tl" rotWithShape="0">
              <a:schemeClr val="bg1">
                <a:alpha val="40000"/>
              </a:schemeClr>
            </a:outerShdw>
          </a:effectLst>
        </p:spPr>
        <p:txBody>
          <a:bodyPr anchor="ctr"/>
          <a:lstStyle/>
          <a:p>
            <a:pPr algn="ctr"/>
            <a:r>
              <a:rPr lang="es-ES" b="1" dirty="0"/>
              <a:t>Imágenes</a:t>
            </a:r>
            <a:endParaRPr lang="es-VE" b="1" dirty="0"/>
          </a:p>
        </p:txBody>
      </p:sp>
      <p:pic>
        <p:nvPicPr>
          <p:cNvPr id="4" name="Imagen 3">
            <a:extLst>
              <a:ext uri="{FF2B5EF4-FFF2-40B4-BE49-F238E27FC236}">
                <a16:creationId xmlns:a16="http://schemas.microsoft.com/office/drawing/2014/main" id="{DBC82FDC-1FFB-3863-0370-57695338DAAD}"/>
              </a:ext>
            </a:extLst>
          </p:cNvPr>
          <p:cNvPicPr>
            <a:picLocks noChangeAspect="1"/>
          </p:cNvPicPr>
          <p:nvPr/>
        </p:nvPicPr>
        <p:blipFill>
          <a:blip r:embed="rId3"/>
          <a:srcRect t="12713" b="42035"/>
          <a:stretch/>
        </p:blipFill>
        <p:spPr>
          <a:xfrm>
            <a:off x="-9" y="3837519"/>
            <a:ext cx="5459366" cy="4392000"/>
          </a:xfrm>
          <a:prstGeom prst="rect">
            <a:avLst/>
          </a:prstGeom>
        </p:spPr>
      </p:pic>
      <p:pic>
        <p:nvPicPr>
          <p:cNvPr id="6" name="Imagen 5">
            <a:extLst>
              <a:ext uri="{FF2B5EF4-FFF2-40B4-BE49-F238E27FC236}">
                <a16:creationId xmlns:a16="http://schemas.microsoft.com/office/drawing/2014/main" id="{EC1795C0-39A1-277E-36FD-CF8622E39642}"/>
              </a:ext>
            </a:extLst>
          </p:cNvPr>
          <p:cNvPicPr>
            <a:picLocks noChangeAspect="1"/>
          </p:cNvPicPr>
          <p:nvPr/>
        </p:nvPicPr>
        <p:blipFill>
          <a:blip r:embed="rId4"/>
          <a:srcRect b="14950"/>
          <a:stretch/>
        </p:blipFill>
        <p:spPr>
          <a:xfrm>
            <a:off x="5449877" y="3837600"/>
            <a:ext cx="9180523" cy="4392000"/>
          </a:xfrm>
          <a:prstGeom prst="rect">
            <a:avLst/>
          </a:prstGeom>
        </p:spPr>
      </p:pic>
    </p:spTree>
    <p:extLst>
      <p:ext uri="{BB962C8B-B14F-4D97-AF65-F5344CB8AC3E}">
        <p14:creationId xmlns:p14="http://schemas.microsoft.com/office/powerpoint/2010/main" val="925765629"/>
      </p:ext>
    </p:extLst>
  </p:cSld>
  <p:clrMapOvr>
    <a:masterClrMapping/>
  </p:clrMapOvr>
</p:sld>
</file>

<file path=ppt/theme/theme1.xml><?xml version="1.0" encoding="utf-8"?>
<a:theme xmlns:a="http://schemas.openxmlformats.org/drawingml/2006/main" name="Vista">
  <a:themeElements>
    <a:clrScheme name="Azul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Vista">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sta">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TM03457515[[fn=Vista]]</Template>
  <TotalTime>43</TotalTime>
  <Words>1338</Words>
  <Application>Microsoft Office PowerPoint</Application>
  <PresentationFormat>Personalizado</PresentationFormat>
  <Paragraphs>102</Paragraphs>
  <Slides>10</Slides>
  <Notes>7</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10</vt:i4>
      </vt:variant>
    </vt:vector>
  </HeadingPairs>
  <TitlesOfParts>
    <vt:vector size="16" baseType="lpstr">
      <vt:lpstr>Barlow Bold</vt:lpstr>
      <vt:lpstr>Montserrat</vt:lpstr>
      <vt:lpstr>Century Schoolbook</vt:lpstr>
      <vt:lpstr>Arial</vt:lpstr>
      <vt:lpstr>Wingdings 2</vt:lpstr>
      <vt:lpstr>Vista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Anexos</vt:lpstr>
      <vt:lpstr>Diagrama de Clase</vt:lpstr>
      <vt:lpstr>Imágenes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Frankelbert</dc:creator>
  <cp:lastModifiedBy>Frankelbert Bolivar</cp:lastModifiedBy>
  <cp:revision>10</cp:revision>
  <dcterms:created xsi:type="dcterms:W3CDTF">2025-11-14T23:24:07Z</dcterms:created>
  <dcterms:modified xsi:type="dcterms:W3CDTF">2025-12-04T04:45:54Z</dcterms:modified>
</cp:coreProperties>
</file>